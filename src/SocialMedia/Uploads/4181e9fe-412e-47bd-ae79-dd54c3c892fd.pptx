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Стил с тема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Стил с тема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 smtClean="0"/>
              <a:t>Щракнете за редакция стил подзагл. обр.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976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710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413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13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873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726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994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73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943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965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158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4629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700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 на цита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8735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или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54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322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98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0F5D4C4-D0C3-49DF-81EC-3AB7BBBC724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200F0C4-5DC2-4EA5-B46A-05F224D87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5520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684211" y="685799"/>
            <a:ext cx="8353371" cy="2971801"/>
          </a:xfrm>
        </p:spPr>
        <p:txBody>
          <a:bodyPr>
            <a:normAutofit/>
          </a:bodyPr>
          <a:lstStyle/>
          <a:p>
            <a:r>
              <a:rPr lang="ru-RU" sz="2800" b="1" dirty="0"/>
              <a:t>Заглавие:</a:t>
            </a:r>
            <a:r>
              <a:rPr lang="ru-RU" sz="2800" dirty="0"/>
              <a:t> </a:t>
            </a:r>
            <a:r>
              <a:rPr lang="ru-RU" sz="2800" b="1" dirty="0"/>
              <a:t>Кеш и </a:t>
            </a:r>
            <a:r>
              <a:rPr lang="ru-RU" sz="2800" b="1" dirty="0" err="1"/>
              <a:t>виртуална</a:t>
            </a:r>
            <a:r>
              <a:rPr lang="ru-RU" sz="2800" b="1" dirty="0"/>
              <a:t> </a:t>
            </a:r>
            <a:r>
              <a:rPr lang="ru-RU" sz="2800" b="1" dirty="0" err="1"/>
              <a:t>памет</a:t>
            </a:r>
            <a:r>
              <a:rPr lang="ru-RU" sz="2800" b="1" dirty="0"/>
              <a:t>. Защита и </a:t>
            </a:r>
            <a:r>
              <a:rPr lang="ru-RU" sz="2800" b="1" dirty="0" err="1"/>
              <a:t>йерархия</a:t>
            </a:r>
            <a:r>
              <a:rPr lang="ru-RU" sz="2800" b="1" dirty="0" smtClean="0"/>
              <a:t>. - </a:t>
            </a:r>
            <a:r>
              <a:rPr lang="ru-RU" sz="2400" dirty="0" err="1"/>
              <a:t>Практическа</a:t>
            </a:r>
            <a:r>
              <a:rPr lang="ru-RU" sz="2400" dirty="0"/>
              <a:t> </a:t>
            </a:r>
            <a:r>
              <a:rPr lang="ru-RU" sz="2400" dirty="0" err="1"/>
              <a:t>симулация</a:t>
            </a:r>
            <a:r>
              <a:rPr lang="ru-RU" sz="2400" dirty="0"/>
              <a:t> и анализ на </a:t>
            </a:r>
            <a:r>
              <a:rPr lang="ru-RU" sz="2400" dirty="0" err="1"/>
              <a:t>производителността</a:t>
            </a:r>
            <a:r>
              <a:rPr lang="ru-RU" sz="2400" dirty="0"/>
              <a:t> </a:t>
            </a:r>
            <a:endParaRPr lang="en-GB" sz="2400" dirty="0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Виртуализация, управление на </a:t>
            </a:r>
            <a:r>
              <a:rPr lang="ru-RU" dirty="0" err="1"/>
              <a:t>паметта</a:t>
            </a:r>
            <a:r>
              <a:rPr lang="ru-RU" dirty="0"/>
              <a:t> и </a:t>
            </a:r>
            <a:r>
              <a:rPr lang="ru-RU" dirty="0" err="1"/>
              <a:t>йерархични</a:t>
            </a:r>
            <a:r>
              <a:rPr lang="ru-RU" dirty="0"/>
              <a:t> нива при рингова защита.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7765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554147" y="2246586"/>
            <a:ext cx="8534400" cy="1507067"/>
          </a:xfrm>
        </p:spPr>
        <p:txBody>
          <a:bodyPr/>
          <a:lstStyle/>
          <a:p>
            <a:r>
              <a:rPr lang="bg-BG" dirty="0"/>
              <a:t>Съдържание </a:t>
            </a:r>
            <a:endParaRPr lang="en-GB" dirty="0"/>
          </a:p>
        </p:txBody>
      </p:sp>
      <p:sp>
        <p:nvSpPr>
          <p:cNvPr id="13" name="Rectangle 8"/>
          <p:cNvSpPr>
            <a:spLocks noGrp="1" noChangeArrowheads="1"/>
          </p:cNvSpPr>
          <p:nvPr>
            <p:ph idx="1"/>
          </p:nvPr>
        </p:nvSpPr>
        <p:spPr bwMode="auto">
          <a:xfrm>
            <a:off x="4821347" y="1358325"/>
            <a:ext cx="531748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bg-BG" altLang="en-US" sz="11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Увод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bg-BG" altLang="en-US" sz="1100" b="1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g-BG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Въведение в </a:t>
            </a:r>
            <a:r>
              <a:rPr kumimoji="0" lang="bg-BG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терията</a:t>
            </a:r>
            <a:endParaRPr kumimoji="0" lang="en-US" altLang="en-US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bg-BG" altLang="en-US" sz="1100" b="1" dirty="0">
                <a:solidFill>
                  <a:schemeClr val="tx1"/>
                </a:solidFill>
                <a:latin typeface="Arial" panose="020B0604020202020204" pitchFamily="34" charset="0"/>
              </a:rPr>
              <a:t>3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bg-BG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Инструменти</a:t>
            </a:r>
            <a:endParaRPr kumimoji="0" lang="en-US" altLang="en-US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Micro-benchmark: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C++ (GCC 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-O2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–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за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натоварване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на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паметта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Simulator: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3 (Modular design) –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моделиране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логиката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Profiling: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Valgrind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Cachegrind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&amp; Perf –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валидация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bg-BG" altLang="en-US" sz="1100" b="1" dirty="0">
                <a:solidFill>
                  <a:schemeClr val="tx1"/>
                </a:solidFill>
                <a:latin typeface="Arial" panose="020B0604020202020204" pitchFamily="34" charset="0"/>
              </a:rPr>
              <a:t>4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Архитектура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Симулатора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bg-BG" altLang="en-US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Логика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Trace -&gt; TLB -&gt; Page Table -&gt; Cache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Implementation: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TLB.lookup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vpage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)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LRU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кеш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с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фиксирани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записи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bg-BG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PageTable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Симулация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на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мапинг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и Page Faults (Demand Paging)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Cache.access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paddr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)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Set-associative (4-way/8-way) с LRU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bg-BG" altLang="en-US" sz="1100" b="1" dirty="0">
                <a:solidFill>
                  <a:schemeClr val="tx1"/>
                </a:solidFill>
                <a:latin typeface="Arial" panose="020B0604020202020204" pitchFamily="34" charset="0"/>
              </a:rPr>
              <a:t>5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Експериментът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Micro-benchmark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Logic (C++):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stride_scan.cpp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Реализира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обхождане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променлива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стъпка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stride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Snippet: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for (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= 0;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&lt;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elems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;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+= stride) { array[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]++; }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Цел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счупи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пространствената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локалност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чрез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увеличаване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stride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bg-BG" altLang="en-US" sz="1100" b="1" dirty="0">
                <a:solidFill>
                  <a:schemeClr val="tx1"/>
                </a:solidFill>
                <a:latin typeface="Arial" panose="020B0604020202020204" pitchFamily="34" charset="0"/>
              </a:rPr>
              <a:t>6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Заключение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070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84212" y="384356"/>
            <a:ext cx="8534400" cy="1507067"/>
          </a:xfrm>
        </p:spPr>
        <p:txBody>
          <a:bodyPr/>
          <a:lstStyle/>
          <a:p>
            <a:r>
              <a:rPr lang="bg-BG" dirty="0" smtClean="0"/>
              <a:t>Увод</a:t>
            </a:r>
            <a:endParaRPr lang="en-GB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727568" y="2179583"/>
            <a:ext cx="8534400" cy="3615267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В </a:t>
            </a:r>
            <a:r>
              <a:rPr lang="ru-RU" dirty="0" err="1">
                <a:solidFill>
                  <a:schemeClr val="tx1"/>
                </a:solidFill>
              </a:rPr>
              <a:t>тази</a:t>
            </a:r>
            <a:r>
              <a:rPr lang="ru-RU" dirty="0">
                <a:solidFill>
                  <a:schemeClr val="tx1"/>
                </a:solidFill>
              </a:rPr>
              <a:t> презентация </a:t>
            </a:r>
            <a:r>
              <a:rPr lang="ru-RU" dirty="0" err="1">
                <a:solidFill>
                  <a:schemeClr val="tx1"/>
                </a:solidFill>
              </a:rPr>
              <a:t>ще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разгледаме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ключовите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механизми</a:t>
            </a:r>
            <a:r>
              <a:rPr lang="ru-RU" dirty="0">
                <a:solidFill>
                  <a:schemeClr val="tx1"/>
                </a:solidFill>
              </a:rPr>
              <a:t> за управление на </a:t>
            </a:r>
            <a:r>
              <a:rPr lang="ru-RU" dirty="0" err="1">
                <a:solidFill>
                  <a:schemeClr val="tx1"/>
                </a:solidFill>
              </a:rPr>
              <a:t>паметта</a:t>
            </a:r>
            <a:r>
              <a:rPr lang="ru-RU" dirty="0">
                <a:solidFill>
                  <a:schemeClr val="tx1"/>
                </a:solidFill>
              </a:rPr>
              <a:t> — </a:t>
            </a:r>
            <a:r>
              <a:rPr lang="ru-RU" dirty="0" err="1">
                <a:solidFill>
                  <a:schemeClr val="tx1"/>
                </a:solidFill>
              </a:rPr>
              <a:t>кеш</a:t>
            </a:r>
            <a:r>
              <a:rPr lang="ru-RU" dirty="0">
                <a:solidFill>
                  <a:schemeClr val="tx1"/>
                </a:solidFill>
              </a:rPr>
              <a:t> (L1/L2/L3), </a:t>
            </a:r>
            <a:r>
              <a:rPr lang="ru-RU" dirty="0" err="1">
                <a:solidFill>
                  <a:schemeClr val="tx1"/>
                </a:solidFill>
              </a:rPr>
              <a:t>виртуална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памет</a:t>
            </a:r>
            <a:r>
              <a:rPr lang="ru-RU" dirty="0">
                <a:solidFill>
                  <a:schemeClr val="tx1"/>
                </a:solidFill>
              </a:rPr>
              <a:t> и защита — и </a:t>
            </a:r>
            <a:r>
              <a:rPr lang="ru-RU" dirty="0" err="1">
                <a:solidFill>
                  <a:schemeClr val="tx1"/>
                </a:solidFill>
              </a:rPr>
              <a:t>тяхната</a:t>
            </a:r>
            <a:r>
              <a:rPr lang="ru-RU" dirty="0">
                <a:solidFill>
                  <a:schemeClr val="tx1"/>
                </a:solidFill>
              </a:rPr>
              <a:t> роля за </a:t>
            </a:r>
            <a:r>
              <a:rPr lang="ru-RU" dirty="0" err="1">
                <a:solidFill>
                  <a:schemeClr val="tx1"/>
                </a:solidFill>
              </a:rPr>
              <a:t>производителността</a:t>
            </a:r>
            <a:r>
              <a:rPr lang="ru-RU" dirty="0">
                <a:solidFill>
                  <a:schemeClr val="tx1"/>
                </a:solidFill>
              </a:rPr>
              <a:t> и </a:t>
            </a:r>
            <a:r>
              <a:rPr lang="ru-RU" dirty="0" err="1">
                <a:solidFill>
                  <a:schemeClr val="tx1"/>
                </a:solidFill>
              </a:rPr>
              <a:t>сигурността</a:t>
            </a:r>
            <a:r>
              <a:rPr lang="ru-RU" dirty="0">
                <a:solidFill>
                  <a:schemeClr val="tx1"/>
                </a:solidFill>
              </a:rPr>
              <a:t> на </a:t>
            </a:r>
            <a:r>
              <a:rPr lang="ru-RU" dirty="0" err="1">
                <a:solidFill>
                  <a:schemeClr val="tx1"/>
                </a:solidFill>
              </a:rPr>
              <a:t>съвременните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системи</a:t>
            </a:r>
            <a:r>
              <a:rPr lang="ru-RU" dirty="0">
                <a:solidFill>
                  <a:schemeClr val="tx1"/>
                </a:solidFill>
              </a:rPr>
              <a:t>. </a:t>
            </a:r>
            <a:r>
              <a:rPr lang="ru-RU" dirty="0" err="1">
                <a:solidFill>
                  <a:schemeClr val="tx1"/>
                </a:solidFill>
              </a:rPr>
              <a:t>Целта</a:t>
            </a:r>
            <a:r>
              <a:rPr lang="ru-RU" dirty="0">
                <a:solidFill>
                  <a:schemeClr val="tx1"/>
                </a:solidFill>
              </a:rPr>
              <a:t> на проекта е да </a:t>
            </a:r>
            <a:r>
              <a:rPr lang="ru-RU" dirty="0" err="1">
                <a:solidFill>
                  <a:schemeClr val="tx1"/>
                </a:solidFill>
              </a:rPr>
              <a:t>разработим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симулатор</a:t>
            </a:r>
            <a:r>
              <a:rPr lang="ru-RU" dirty="0">
                <a:solidFill>
                  <a:schemeClr val="tx1"/>
                </a:solidFill>
              </a:rPr>
              <a:t> и да </a:t>
            </a:r>
            <a:r>
              <a:rPr lang="ru-RU" dirty="0" err="1">
                <a:solidFill>
                  <a:schemeClr val="tx1"/>
                </a:solidFill>
              </a:rPr>
              <a:t>анализираме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експериментално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поведението</a:t>
            </a:r>
            <a:r>
              <a:rPr lang="ru-RU" dirty="0">
                <a:solidFill>
                  <a:schemeClr val="tx1"/>
                </a:solidFill>
              </a:rPr>
              <a:t> на </a:t>
            </a:r>
            <a:r>
              <a:rPr lang="ru-RU" dirty="0" err="1">
                <a:solidFill>
                  <a:schemeClr val="tx1"/>
                </a:solidFill>
              </a:rPr>
              <a:t>различни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кеш</a:t>
            </a:r>
            <a:r>
              <a:rPr lang="ru-RU" dirty="0">
                <a:solidFill>
                  <a:schemeClr val="tx1"/>
                </a:solidFill>
              </a:rPr>
              <a:t> политики и стратегии за управление на </a:t>
            </a:r>
            <a:r>
              <a:rPr lang="ru-RU" dirty="0" err="1">
                <a:solidFill>
                  <a:schemeClr val="tx1"/>
                </a:solidFill>
              </a:rPr>
              <a:t>виртуалната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памет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като</a:t>
            </a:r>
            <a:r>
              <a:rPr lang="ru-RU" dirty="0">
                <a:solidFill>
                  <a:schemeClr val="tx1"/>
                </a:solidFill>
              </a:rPr>
              <a:t> сравним </a:t>
            </a:r>
            <a:r>
              <a:rPr lang="ru-RU" dirty="0" err="1">
                <a:solidFill>
                  <a:schemeClr val="tx1"/>
                </a:solidFill>
              </a:rPr>
              <a:t>симулационните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резултати</a:t>
            </a:r>
            <a:r>
              <a:rPr lang="ru-RU" dirty="0">
                <a:solidFill>
                  <a:schemeClr val="tx1"/>
                </a:solidFill>
              </a:rPr>
              <a:t> с </a:t>
            </a:r>
            <a:r>
              <a:rPr lang="ru-RU" dirty="0" err="1">
                <a:solidFill>
                  <a:schemeClr val="tx1"/>
                </a:solidFill>
              </a:rPr>
              <a:t>реални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измервания</a:t>
            </a:r>
            <a:r>
              <a:rPr lang="ru-RU" dirty="0">
                <a:solidFill>
                  <a:schemeClr val="tx1"/>
                </a:solidFill>
              </a:rPr>
              <a:t>. В края </a:t>
            </a:r>
            <a:r>
              <a:rPr lang="ru-RU" dirty="0" err="1">
                <a:solidFill>
                  <a:schemeClr val="tx1"/>
                </a:solidFill>
              </a:rPr>
              <a:t>ще</a:t>
            </a:r>
            <a:r>
              <a:rPr lang="ru-RU" dirty="0">
                <a:solidFill>
                  <a:schemeClr val="tx1"/>
                </a:solidFill>
              </a:rPr>
              <a:t> представим изводи и </a:t>
            </a:r>
            <a:r>
              <a:rPr lang="ru-RU" dirty="0" err="1">
                <a:solidFill>
                  <a:schemeClr val="tx1"/>
                </a:solidFill>
              </a:rPr>
              <a:t>препоръки</a:t>
            </a:r>
            <a:r>
              <a:rPr lang="ru-RU" dirty="0">
                <a:solidFill>
                  <a:schemeClr val="tx1"/>
                </a:solidFill>
              </a:rPr>
              <a:t> за оптимизация, </a:t>
            </a:r>
            <a:r>
              <a:rPr lang="ru-RU" dirty="0" err="1">
                <a:solidFill>
                  <a:schemeClr val="tx1"/>
                </a:solidFill>
              </a:rPr>
              <a:t>фокусирани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върху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намаляване</a:t>
            </a:r>
            <a:r>
              <a:rPr lang="ru-RU" dirty="0">
                <a:solidFill>
                  <a:schemeClr val="tx1"/>
                </a:solidFill>
              </a:rPr>
              <a:t> на </a:t>
            </a:r>
            <a:r>
              <a:rPr lang="ru-RU" dirty="0" err="1">
                <a:solidFill>
                  <a:schemeClr val="tx1"/>
                </a:solidFill>
              </a:rPr>
              <a:t>латентността</a:t>
            </a:r>
            <a:r>
              <a:rPr lang="ru-RU" dirty="0">
                <a:solidFill>
                  <a:schemeClr val="tx1"/>
                </a:solidFill>
              </a:rPr>
              <a:t> и </a:t>
            </a:r>
            <a:r>
              <a:rPr lang="ru-RU" dirty="0" err="1">
                <a:solidFill>
                  <a:schemeClr val="tx1"/>
                </a:solidFill>
              </a:rPr>
              <a:t>повишаване</a:t>
            </a:r>
            <a:r>
              <a:rPr lang="ru-RU" dirty="0">
                <a:solidFill>
                  <a:schemeClr val="tx1"/>
                </a:solidFill>
              </a:rPr>
              <a:t> на </a:t>
            </a:r>
            <a:r>
              <a:rPr lang="ru-RU" dirty="0" err="1">
                <a:solidFill>
                  <a:schemeClr val="tx1"/>
                </a:solidFill>
              </a:rPr>
              <a:t>ефективността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8210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84212" y="384356"/>
            <a:ext cx="8534400" cy="1507067"/>
          </a:xfrm>
        </p:spPr>
        <p:txBody>
          <a:bodyPr/>
          <a:lstStyle/>
          <a:p>
            <a:r>
              <a:rPr lang="bg-BG" dirty="0" smtClean="0"/>
              <a:t>Теория за въведение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27075" y="1740239"/>
            <a:ext cx="6962556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Кеш-памет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Йерархия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Организация</a:t>
            </a:r>
            <a:endParaRPr kumimoji="0" lang="bg-BG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Основни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единици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Йерархия</a:t>
            </a: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Кеш-линия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(Cache Line):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Фундаменталната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единица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трансфер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Стандартният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размер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съвременните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архитектури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е 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64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байта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Принцип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локалност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Механизмът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разчита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това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ако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достъпи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един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байт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вероятно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скоро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ще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достъпят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съседните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Разделение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I/D: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L1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кешът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е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разделен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L1i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инструкции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и L1d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елиминиране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конфликти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паралелен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достъп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bg-BG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Блокова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алокация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Къде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отиват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данните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?)</a:t>
            </a: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Mapped: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Всеки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блок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има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само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едно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възможно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място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бързо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много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конфликти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Associative: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Блокът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може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е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навсякъде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гъвкаво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бавно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търсене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Associative (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Множествено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асоциативна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Компромисен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най-разпространен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подход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(2-way, 4-way, 8-way).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Балансира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производителност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сложност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Политики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замяна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Кой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тръгва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?)</a:t>
            </a: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LRU (Least Recently Used):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Заменя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най-отдавна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използваната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линия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Най-ефективна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L1/L2,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сложна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реализация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FIFO/Random: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По-прости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алтернативи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използвани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там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където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скоростта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е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по-важна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точността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предсказанието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68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8248" y="978062"/>
            <a:ext cx="7269984" cy="4693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Виртуална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памет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Защита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Виртуализация</a:t>
            </a:r>
            <a:endParaRPr kumimoji="0" lang="bg-BG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Виртуална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памет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Странициране</a:t>
            </a: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PTE (Page Table Entry):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Съдържа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физическия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адрес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контролни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битове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bit: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Дали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страницата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е в RAM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ако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е -&gt; Page Fault).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Dirty bit: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Дали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страницата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е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модифицирана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нужен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е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запис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диск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Accessed bit: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Помага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LRU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алгоритъма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следи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активността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Swap: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Разширява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паметта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чрез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диска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Прекомерното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използване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води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"Thrashing".</a:t>
            </a:r>
            <a:endParaRPr kumimoji="0" lang="bg-BG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TLB (Translation Lookaside Buffer)</a:t>
            </a: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Роля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Хардуерен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кеш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преводите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Виртуален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-&gt;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Физически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адрес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".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Критичен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латентността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Проблем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многоядрени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системи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налага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TLB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Shootdown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синхронизация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между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ядрата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което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е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скъпа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операция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Защита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Виртуализация</a:t>
            </a:r>
            <a:endParaRPr kumimoji="0" lang="bg-BG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Protection Rings: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Ring 0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Ядро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vs Ring 3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Потребител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U/S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битът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PTE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контролира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достъпа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Виртуализация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Shadow Page Tables: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Стара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софтуерна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техника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бавно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EPT/NPT: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Модерна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хардуерна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транслация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две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нива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(Guest -&gt; Host Physical),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стандарт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KVM/VMware.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466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56622" y="33573"/>
            <a:ext cx="8534400" cy="1507067"/>
          </a:xfrm>
        </p:spPr>
        <p:txBody>
          <a:bodyPr/>
          <a:lstStyle/>
          <a:p>
            <a:r>
              <a:rPr lang="bg-BG" altLang="en-US" b="1" cap="none" dirty="0">
                <a:ln>
                  <a:noFill/>
                </a:ln>
                <a:latin typeface="Arial" panose="020B0604020202020204" pitchFamily="34" charset="0"/>
              </a:rPr>
              <a:t>Инструменти</a:t>
            </a:r>
            <a:endParaRPr lang="en-GB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727568" y="2179583"/>
            <a:ext cx="8534400" cy="3615267"/>
          </a:xfrm>
        </p:spPr>
        <p:txBody>
          <a:bodyPr>
            <a:normAutofit/>
          </a:bodyPr>
          <a:lstStyle/>
          <a:p>
            <a:r>
              <a:rPr lang="bg-BG" sz="1300" dirty="0" smtClean="0"/>
              <a:t>1</a:t>
            </a:r>
            <a:r>
              <a:rPr lang="ru-RU" sz="1300" b="1" dirty="0"/>
              <a:t>. </a:t>
            </a:r>
            <a:r>
              <a:rPr lang="ru-RU" sz="1300" b="1" dirty="0" err="1"/>
              <a:t>Операционна</a:t>
            </a:r>
            <a:r>
              <a:rPr lang="ru-RU" sz="1300" b="1" dirty="0"/>
              <a:t> среда и </a:t>
            </a:r>
            <a:r>
              <a:rPr lang="ru-RU" sz="1300" b="1" dirty="0" err="1"/>
              <a:t>Компилация</a:t>
            </a:r>
            <a:endParaRPr lang="ru-RU" sz="1300" b="1" dirty="0"/>
          </a:p>
          <a:p>
            <a:r>
              <a:rPr lang="ru-RU" sz="1300" b="1" dirty="0" err="1"/>
              <a:t>Ubuntu</a:t>
            </a:r>
            <a:r>
              <a:rPr lang="ru-RU" sz="1300" b="1" dirty="0"/>
              <a:t> (WSL2):</a:t>
            </a:r>
            <a:r>
              <a:rPr lang="ru-RU" sz="1300" dirty="0"/>
              <a:t> </a:t>
            </a:r>
            <a:r>
              <a:rPr lang="ru-RU" sz="1300" dirty="0" err="1"/>
              <a:t>Linux</a:t>
            </a:r>
            <a:r>
              <a:rPr lang="ru-RU" sz="1300" dirty="0"/>
              <a:t> среда </a:t>
            </a:r>
            <a:r>
              <a:rPr lang="ru-RU" sz="1300" dirty="0" err="1"/>
              <a:t>върху</a:t>
            </a:r>
            <a:r>
              <a:rPr lang="ru-RU" sz="1300" dirty="0"/>
              <a:t> </a:t>
            </a:r>
            <a:r>
              <a:rPr lang="ru-RU" sz="1300" dirty="0" err="1"/>
              <a:t>Windows</a:t>
            </a:r>
            <a:r>
              <a:rPr lang="ru-RU" sz="1300" dirty="0"/>
              <a:t> за </a:t>
            </a:r>
            <a:r>
              <a:rPr lang="ru-RU" sz="1300" dirty="0" err="1"/>
              <a:t>директен</a:t>
            </a:r>
            <a:r>
              <a:rPr lang="ru-RU" sz="1300" dirty="0"/>
              <a:t> </a:t>
            </a:r>
            <a:r>
              <a:rPr lang="ru-RU" sz="1300" dirty="0" err="1"/>
              <a:t>достъп</a:t>
            </a:r>
            <a:r>
              <a:rPr lang="ru-RU" sz="1300" dirty="0"/>
              <a:t> до </a:t>
            </a:r>
            <a:r>
              <a:rPr lang="ru-RU" sz="1300" dirty="0" err="1"/>
              <a:t>системните</a:t>
            </a:r>
            <a:r>
              <a:rPr lang="ru-RU" sz="1300" dirty="0"/>
              <a:t> </a:t>
            </a:r>
            <a:r>
              <a:rPr lang="ru-RU" sz="1300" dirty="0" err="1"/>
              <a:t>броячи</a:t>
            </a:r>
            <a:r>
              <a:rPr lang="ru-RU" sz="1300" dirty="0"/>
              <a:t>.</a:t>
            </a:r>
          </a:p>
          <a:p>
            <a:r>
              <a:rPr lang="ru-RU" sz="1300" b="1" dirty="0"/>
              <a:t>GCC / G++:</a:t>
            </a:r>
            <a:r>
              <a:rPr lang="ru-RU" sz="1300" dirty="0"/>
              <a:t> </a:t>
            </a:r>
            <a:r>
              <a:rPr lang="ru-RU" sz="1300" dirty="0" err="1"/>
              <a:t>Компилация</a:t>
            </a:r>
            <a:r>
              <a:rPr lang="ru-RU" sz="1300" dirty="0"/>
              <a:t> на C++ </a:t>
            </a:r>
            <a:r>
              <a:rPr lang="ru-RU" sz="1300" dirty="0" err="1"/>
              <a:t>бенчмарка</a:t>
            </a:r>
            <a:r>
              <a:rPr lang="ru-RU" sz="1300" dirty="0"/>
              <a:t> с оптимизации за </a:t>
            </a:r>
            <a:r>
              <a:rPr lang="ru-RU" sz="1300" dirty="0" err="1"/>
              <a:t>native</a:t>
            </a:r>
            <a:r>
              <a:rPr lang="ru-RU" sz="1300" dirty="0"/>
              <a:t> </a:t>
            </a:r>
            <a:r>
              <a:rPr lang="ru-RU" sz="1300" dirty="0" err="1"/>
              <a:t>архитектурата</a:t>
            </a:r>
            <a:r>
              <a:rPr lang="ru-RU" sz="1300" dirty="0"/>
              <a:t>.</a:t>
            </a:r>
          </a:p>
          <a:p>
            <a:r>
              <a:rPr lang="bg-BG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Код : </a:t>
            </a:r>
            <a:endParaRPr lang="bg-BG" sz="1200" i="1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bg-BG" sz="1200" i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# </a:t>
            </a:r>
            <a:r>
              <a:rPr lang="bg-BG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Проверка на средата (</a:t>
            </a:r>
            <a:r>
              <a:rPr lang="en-GB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Kernel </a:t>
            </a:r>
            <a:r>
              <a:rPr lang="bg-BG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версия и </a:t>
            </a:r>
            <a:r>
              <a:rPr lang="en-GB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CPU </a:t>
            </a:r>
            <a:r>
              <a:rPr lang="bg-BG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инфо)</a:t>
            </a:r>
          </a:p>
          <a:p>
            <a:r>
              <a:rPr lang="bg-BG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$ </a:t>
            </a:r>
            <a:r>
              <a:rPr lang="en-GB" sz="1200" i="1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uname</a:t>
            </a:r>
            <a:r>
              <a:rPr lang="en-GB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-r</a:t>
            </a:r>
          </a:p>
          <a:p>
            <a:r>
              <a:rPr lang="en-GB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$ </a:t>
            </a:r>
            <a:r>
              <a:rPr lang="en-GB" sz="1200" i="1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lscpu</a:t>
            </a:r>
            <a:r>
              <a:rPr lang="en-GB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| grep "Model name"</a:t>
            </a:r>
          </a:p>
          <a:p>
            <a:endParaRPr lang="en-GB" sz="1200" i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GB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# </a:t>
            </a:r>
            <a:r>
              <a:rPr lang="bg-BG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Компилация на </a:t>
            </a:r>
            <a:r>
              <a:rPr lang="en-GB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micro-benchmark (stride_scan.cpp)</a:t>
            </a:r>
          </a:p>
          <a:p>
            <a:r>
              <a:rPr lang="en-GB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# </a:t>
            </a:r>
            <a:r>
              <a:rPr lang="bg-BG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Флаг -</a:t>
            </a:r>
            <a:r>
              <a:rPr lang="en-GB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O2: </a:t>
            </a:r>
            <a:r>
              <a:rPr lang="bg-BG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Оптимизация за скорост</a:t>
            </a:r>
          </a:p>
          <a:p>
            <a:r>
              <a:rPr lang="bg-BG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# Флаг -</a:t>
            </a:r>
            <a:r>
              <a:rPr lang="en-GB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march=native: </a:t>
            </a:r>
            <a:r>
              <a:rPr lang="bg-BG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Използване на инструкциите на конкретния </a:t>
            </a:r>
            <a:r>
              <a:rPr lang="en-GB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CPU</a:t>
            </a:r>
          </a:p>
          <a:p>
            <a:r>
              <a:rPr lang="en-GB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$ g++ -O2 -march=native -o </a:t>
            </a:r>
            <a:r>
              <a:rPr lang="en-GB" sz="1200" i="1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stride_scan</a:t>
            </a:r>
            <a:r>
              <a:rPr lang="en-GB" sz="1200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stride_scan.cpp</a:t>
            </a:r>
          </a:p>
        </p:txBody>
      </p:sp>
      <p:sp>
        <p:nvSpPr>
          <p:cNvPr id="4" name="Правоъгълник 3"/>
          <p:cNvSpPr/>
          <p:nvPr/>
        </p:nvSpPr>
        <p:spPr>
          <a:xfrm>
            <a:off x="899949" y="1174008"/>
            <a:ext cx="855936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00" b="1" dirty="0" smtClean="0"/>
              <a:t>Цел:</a:t>
            </a:r>
            <a:r>
              <a:rPr lang="ru-RU" sz="1300" dirty="0" smtClean="0"/>
              <a:t> </a:t>
            </a:r>
            <a:r>
              <a:rPr lang="ru-RU" sz="1300" dirty="0" err="1" smtClean="0"/>
              <a:t>Осигуряване</a:t>
            </a:r>
            <a:r>
              <a:rPr lang="ru-RU" sz="1300" dirty="0" smtClean="0"/>
              <a:t> на </a:t>
            </a:r>
            <a:r>
              <a:rPr lang="ru-RU" sz="1300" dirty="0" err="1" smtClean="0"/>
              <a:t>възпроизводимост</a:t>
            </a:r>
            <a:r>
              <a:rPr lang="ru-RU" sz="1300" dirty="0" smtClean="0"/>
              <a:t> и </a:t>
            </a:r>
            <a:r>
              <a:rPr lang="ru-RU" sz="1300" dirty="0" err="1" smtClean="0"/>
              <a:t>точност</a:t>
            </a:r>
            <a:r>
              <a:rPr lang="ru-RU" sz="1300" dirty="0" smtClean="0"/>
              <a:t> чрез комбинация от </a:t>
            </a:r>
            <a:r>
              <a:rPr lang="ru-RU" sz="1300" dirty="0" err="1" smtClean="0"/>
              <a:t>симулация</a:t>
            </a:r>
            <a:r>
              <a:rPr lang="ru-RU" sz="1300" dirty="0" smtClean="0"/>
              <a:t> (</a:t>
            </a:r>
            <a:r>
              <a:rPr lang="ru-RU" sz="1300" dirty="0" err="1" smtClean="0"/>
              <a:t>Python</a:t>
            </a:r>
            <a:r>
              <a:rPr lang="ru-RU" sz="1300" dirty="0" smtClean="0"/>
              <a:t>) и </a:t>
            </a:r>
            <a:r>
              <a:rPr lang="ru-RU" sz="1300" dirty="0" err="1" smtClean="0"/>
              <a:t>хардуерно</a:t>
            </a:r>
            <a:r>
              <a:rPr lang="ru-RU" sz="1300" dirty="0" smtClean="0"/>
              <a:t> </a:t>
            </a:r>
            <a:r>
              <a:rPr lang="ru-RU" sz="1300" dirty="0" err="1" smtClean="0"/>
              <a:t>профилиране</a:t>
            </a:r>
            <a:r>
              <a:rPr lang="ru-RU" sz="1300" dirty="0" smtClean="0"/>
              <a:t> (C++/</a:t>
            </a:r>
            <a:r>
              <a:rPr lang="ru-RU" sz="1300" dirty="0" err="1" smtClean="0"/>
              <a:t>Perf</a:t>
            </a:r>
            <a:r>
              <a:rPr lang="ru-RU" sz="1300" dirty="0" smtClean="0"/>
              <a:t>).</a:t>
            </a:r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84296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676330" y="374432"/>
            <a:ext cx="8534400" cy="5905208"/>
          </a:xfrm>
        </p:spPr>
        <p:txBody>
          <a:bodyPr>
            <a:normAutofit fontScale="92500" lnSpcReduction="10000"/>
          </a:bodyPr>
          <a:lstStyle/>
          <a:p>
            <a:r>
              <a:rPr lang="bg-BG" sz="1300" b="1" dirty="0"/>
              <a:t>2. Профилиране и Валидация (</a:t>
            </a:r>
            <a:r>
              <a:rPr lang="en-GB" sz="1300" b="1" dirty="0"/>
              <a:t>Hardware &amp; Sim)</a:t>
            </a:r>
          </a:p>
          <a:p>
            <a:r>
              <a:rPr lang="en-GB" sz="1300" b="1" dirty="0"/>
              <a:t>Linux perf:</a:t>
            </a:r>
            <a:r>
              <a:rPr lang="en-GB" sz="1300" dirty="0"/>
              <a:t> </a:t>
            </a:r>
            <a:r>
              <a:rPr lang="bg-BG" sz="1300" dirty="0"/>
              <a:t>Чете хардуерните броячи (</a:t>
            </a:r>
            <a:r>
              <a:rPr lang="en-GB" sz="1300" dirty="0"/>
              <a:t>PMU) </a:t>
            </a:r>
            <a:r>
              <a:rPr lang="bg-BG" sz="1300" dirty="0"/>
              <a:t>за реални данни (цикли, пропуски, </a:t>
            </a:r>
            <a:r>
              <a:rPr lang="en-GB" sz="1300" dirty="0"/>
              <a:t>page faults).</a:t>
            </a:r>
          </a:p>
          <a:p>
            <a:r>
              <a:rPr lang="en-GB" sz="1300" b="1" dirty="0" err="1"/>
              <a:t>Valgrind</a:t>
            </a:r>
            <a:r>
              <a:rPr lang="en-GB" sz="1300" b="1" dirty="0"/>
              <a:t> (</a:t>
            </a:r>
            <a:r>
              <a:rPr lang="en-GB" sz="1300" b="1" dirty="0" err="1"/>
              <a:t>Cachegrind</a:t>
            </a:r>
            <a:r>
              <a:rPr lang="en-GB" sz="1300" b="1" dirty="0"/>
              <a:t>):</a:t>
            </a:r>
            <a:r>
              <a:rPr lang="en-GB" sz="1300" dirty="0"/>
              <a:t> </a:t>
            </a:r>
            <a:r>
              <a:rPr lang="bg-BG" sz="1300" dirty="0"/>
              <a:t>Симулира кеш йерархията, за да потвърди дали </a:t>
            </a:r>
            <a:r>
              <a:rPr lang="bg-BG" sz="1300" dirty="0" err="1"/>
              <a:t>бенчмаркът</a:t>
            </a:r>
            <a:r>
              <a:rPr lang="bg-BG" sz="1300" dirty="0"/>
              <a:t> работи коректно</a:t>
            </a:r>
            <a:r>
              <a:rPr lang="bg-BG" sz="1300" dirty="0" smtClean="0"/>
              <a:t>.</a:t>
            </a:r>
          </a:p>
          <a:p>
            <a:r>
              <a:rPr lang="bg-BG" sz="13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Код: </a:t>
            </a:r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# Perf: </a:t>
            </a:r>
            <a:r>
              <a:rPr lang="bg-BG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Събиране на хардуерни събития</a:t>
            </a:r>
          </a:p>
          <a:p>
            <a:r>
              <a:rPr lang="bg-BG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$ </a:t>
            </a:r>
            <a:r>
              <a:rPr lang="en-GB" sz="13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sudo</a:t>
            </a:r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perf stat -e </a:t>
            </a:r>
            <a:r>
              <a:rPr lang="en-GB" sz="13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cycles,instructions,cache</a:t>
            </a:r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-</a:t>
            </a:r>
            <a:r>
              <a:rPr lang="en-GB" sz="13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misses,page</a:t>
            </a:r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-faults \</a:t>
            </a:r>
          </a:p>
          <a:p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 ./</a:t>
            </a:r>
            <a:r>
              <a:rPr lang="en-GB" sz="13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stride_scan</a:t>
            </a:r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262144 64 5</a:t>
            </a:r>
          </a:p>
          <a:p>
            <a:endParaRPr lang="en-GB" sz="13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# </a:t>
            </a:r>
            <a:r>
              <a:rPr lang="en-GB" sz="13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Valgrind</a:t>
            </a:r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: </a:t>
            </a:r>
            <a:r>
              <a:rPr lang="bg-BG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Детайлна симулация на </a:t>
            </a:r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L1/LL </a:t>
            </a:r>
            <a:r>
              <a:rPr lang="bg-BG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кеш</a:t>
            </a:r>
          </a:p>
          <a:p>
            <a:r>
              <a:rPr lang="bg-BG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$ </a:t>
            </a:r>
            <a:r>
              <a:rPr lang="en-GB" sz="13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valgrind</a:t>
            </a:r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--tool=</a:t>
            </a:r>
            <a:r>
              <a:rPr lang="en-GB" sz="13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cachegrind</a:t>
            </a:r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--branch-sim=yes ./</a:t>
            </a:r>
            <a:r>
              <a:rPr lang="en-GB" sz="13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stride_scan</a:t>
            </a:r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262144 64 </a:t>
            </a:r>
            <a:r>
              <a:rPr lang="en-GB" sz="13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5</a:t>
            </a:r>
            <a:endParaRPr lang="bg-BG" sz="13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endParaRPr lang="bg-BG" sz="13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ru-RU" sz="1400" b="1" dirty="0"/>
              <a:t>3. Анализ на </a:t>
            </a:r>
            <a:r>
              <a:rPr lang="ru-RU" sz="1400" b="1" dirty="0" err="1"/>
              <a:t>данни</a:t>
            </a:r>
            <a:r>
              <a:rPr lang="ru-RU" sz="1400" b="1" dirty="0"/>
              <a:t> и </a:t>
            </a:r>
            <a:r>
              <a:rPr lang="ru-RU" sz="1400" b="1" dirty="0" err="1"/>
              <a:t>Симулатор</a:t>
            </a:r>
            <a:endParaRPr lang="ru-RU" sz="1400" b="1" dirty="0"/>
          </a:p>
          <a:p>
            <a:r>
              <a:rPr lang="ru-RU" sz="1400" b="1" dirty="0" err="1"/>
              <a:t>Python</a:t>
            </a:r>
            <a:r>
              <a:rPr lang="ru-RU" sz="1400" b="1" dirty="0"/>
              <a:t> 3 (</a:t>
            </a:r>
            <a:r>
              <a:rPr lang="ru-RU" sz="1400" b="1" dirty="0" err="1"/>
              <a:t>NumPy</a:t>
            </a:r>
            <a:r>
              <a:rPr lang="ru-RU" sz="1400" b="1" dirty="0"/>
              <a:t>, </a:t>
            </a:r>
            <a:r>
              <a:rPr lang="ru-RU" sz="1400" b="1" dirty="0" err="1"/>
              <a:t>Pandas</a:t>
            </a:r>
            <a:r>
              <a:rPr lang="ru-RU" sz="1400" b="1" dirty="0"/>
              <a:t>, </a:t>
            </a:r>
            <a:r>
              <a:rPr lang="ru-RU" sz="1400" b="1" dirty="0" err="1"/>
              <a:t>Matplotlib</a:t>
            </a:r>
            <a:r>
              <a:rPr lang="ru-RU" sz="1400" b="1" dirty="0"/>
              <a:t>):</a:t>
            </a:r>
            <a:r>
              <a:rPr lang="ru-RU" sz="1400" dirty="0"/>
              <a:t> Обработка на CSV </a:t>
            </a:r>
            <a:r>
              <a:rPr lang="ru-RU" sz="1400" dirty="0" err="1"/>
              <a:t>резултатите</a:t>
            </a:r>
            <a:r>
              <a:rPr lang="ru-RU" sz="1400" dirty="0"/>
              <a:t> и </a:t>
            </a:r>
            <a:r>
              <a:rPr lang="ru-RU" sz="1400" dirty="0" err="1"/>
              <a:t>генериране</a:t>
            </a:r>
            <a:r>
              <a:rPr lang="ru-RU" sz="1400" dirty="0"/>
              <a:t> на графики.</a:t>
            </a:r>
          </a:p>
          <a:p>
            <a:r>
              <a:rPr lang="ru-RU" sz="1400" b="1" dirty="0" err="1"/>
              <a:t>Git</a:t>
            </a:r>
            <a:r>
              <a:rPr lang="ru-RU" sz="1400" b="1" dirty="0"/>
              <a:t>:</a:t>
            </a:r>
            <a:r>
              <a:rPr lang="ru-RU" sz="1400" dirty="0"/>
              <a:t> </a:t>
            </a:r>
            <a:r>
              <a:rPr lang="ru-RU" sz="1400" dirty="0" err="1"/>
              <a:t>Контрол</a:t>
            </a:r>
            <a:r>
              <a:rPr lang="ru-RU" sz="1400" dirty="0"/>
              <a:t> на </a:t>
            </a:r>
            <a:r>
              <a:rPr lang="ru-RU" sz="1400" dirty="0" err="1"/>
              <a:t>версиите</a:t>
            </a:r>
            <a:r>
              <a:rPr lang="ru-RU" sz="1400" dirty="0"/>
              <a:t>.</a:t>
            </a:r>
          </a:p>
          <a:p>
            <a:r>
              <a:rPr lang="bg-BG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Код: # Инсталиране на необходимите библиотеки</a:t>
            </a:r>
          </a:p>
          <a:p>
            <a:r>
              <a:rPr lang="bg-BG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$ </a:t>
            </a:r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pip install </a:t>
            </a:r>
            <a:r>
              <a:rPr lang="en-GB" sz="13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numpy</a:t>
            </a:r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pandas </a:t>
            </a:r>
            <a:r>
              <a:rPr lang="en-GB" sz="13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matplotlib</a:t>
            </a:r>
            <a:endParaRPr lang="en-GB" sz="13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endParaRPr lang="en-GB" sz="13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# </a:t>
            </a:r>
            <a:r>
              <a:rPr lang="bg-BG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Стартиране на нашия </a:t>
            </a:r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Python </a:t>
            </a:r>
            <a:r>
              <a:rPr lang="bg-BG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симулатор</a:t>
            </a:r>
          </a:p>
          <a:p>
            <a:r>
              <a:rPr lang="bg-BG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$ </a:t>
            </a:r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python3 sim.py --trace traces/stride_64.trace --l1_size 32768</a:t>
            </a:r>
          </a:p>
          <a:p>
            <a:endParaRPr lang="en-GB" sz="13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# </a:t>
            </a:r>
            <a:r>
              <a:rPr lang="bg-BG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Генериране на сравнителни графики</a:t>
            </a:r>
          </a:p>
          <a:p>
            <a:r>
              <a:rPr lang="bg-BG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$ </a:t>
            </a:r>
            <a:r>
              <a:rPr lang="en-GB" sz="13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python3 plot_results.py --input results.csv</a:t>
            </a:r>
            <a:endParaRPr lang="bg-BG" sz="13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776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11802" y="-39414"/>
            <a:ext cx="8534400" cy="1507067"/>
          </a:xfrm>
        </p:spPr>
        <p:txBody>
          <a:bodyPr/>
          <a:lstStyle/>
          <a:p>
            <a:r>
              <a:rPr lang="bg-BG" dirty="0" smtClean="0"/>
              <a:t>Обобщено - </a:t>
            </a:r>
            <a:r>
              <a:rPr lang="ru-RU" sz="2000" dirty="0"/>
              <a:t>Инструкции за </a:t>
            </a:r>
            <a:r>
              <a:rPr lang="ru-RU" sz="2000" dirty="0" err="1"/>
              <a:t>компилиране</a:t>
            </a:r>
            <a:r>
              <a:rPr lang="ru-RU" sz="2000" dirty="0"/>
              <a:t> и </a:t>
            </a:r>
            <a:r>
              <a:rPr lang="ru-RU" sz="2000" dirty="0" err="1"/>
              <a:t>пускане</a:t>
            </a:r>
            <a:endParaRPr lang="en-GB" sz="2000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2757379" y="1801211"/>
            <a:ext cx="8534400" cy="36152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050" b="1" dirty="0" smtClean="0"/>
              <a:t>1</a:t>
            </a:r>
            <a:r>
              <a:rPr lang="ru-RU" sz="1050" b="1" dirty="0"/>
              <a:t>. </a:t>
            </a:r>
            <a:r>
              <a:rPr lang="ru-RU" sz="1050" b="1" dirty="0" err="1"/>
              <a:t>Обновяване</a:t>
            </a:r>
            <a:r>
              <a:rPr lang="ru-RU" sz="1050" b="1" dirty="0"/>
              <a:t> и </a:t>
            </a:r>
            <a:r>
              <a:rPr lang="ru-RU" sz="1050" b="1" dirty="0" err="1"/>
              <a:t>основни</a:t>
            </a:r>
            <a:r>
              <a:rPr lang="ru-RU" sz="1050" b="1" dirty="0"/>
              <a:t> </a:t>
            </a:r>
            <a:r>
              <a:rPr lang="ru-RU" sz="1050" b="1" dirty="0" err="1"/>
              <a:t>инструменти</a:t>
            </a:r>
            <a:endParaRPr lang="ru-RU" sz="1050" b="1" dirty="0"/>
          </a:p>
          <a:p>
            <a:pPr marL="0" indent="0">
              <a:buNone/>
            </a:pPr>
            <a:r>
              <a:rPr lang="en-GB" sz="105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sudo</a:t>
            </a:r>
            <a:r>
              <a:rPr lang="en-GB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apt update &amp;&amp; </a:t>
            </a:r>
            <a:r>
              <a:rPr lang="en-GB" sz="105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sudo</a:t>
            </a:r>
            <a:r>
              <a:rPr lang="en-GB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apt upgrade -y</a:t>
            </a:r>
          </a:p>
          <a:p>
            <a:pPr marL="0" indent="0">
              <a:buNone/>
            </a:pPr>
            <a:r>
              <a:rPr lang="en-GB" sz="105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sudo</a:t>
            </a:r>
            <a:r>
              <a:rPr lang="en-GB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apt install -y build-essential git </a:t>
            </a:r>
            <a:r>
              <a:rPr lang="en-GB" sz="105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nano</a:t>
            </a:r>
            <a:endParaRPr lang="en-GB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endParaRPr lang="en-GB" sz="105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GB" sz="1050" b="1" dirty="0" smtClean="0"/>
              <a:t>2</a:t>
            </a:r>
            <a:r>
              <a:rPr lang="en-GB" sz="1050" b="1" dirty="0"/>
              <a:t>. </a:t>
            </a:r>
            <a:r>
              <a:rPr lang="ru-RU" sz="1050" b="1" dirty="0" err="1"/>
              <a:t>Инсталиране</a:t>
            </a:r>
            <a:r>
              <a:rPr lang="ru-RU" sz="1050" b="1" dirty="0"/>
              <a:t> на </a:t>
            </a:r>
            <a:r>
              <a:rPr lang="en-GB" sz="1050" b="1" dirty="0"/>
              <a:t>Perf (WSL2 fix) </a:t>
            </a:r>
            <a:r>
              <a:rPr lang="ru-RU" sz="1050" b="1" dirty="0"/>
              <a:t>и </a:t>
            </a:r>
            <a:r>
              <a:rPr lang="en-GB" sz="1050" b="1" dirty="0" err="1" smtClean="0"/>
              <a:t>Valgrind</a:t>
            </a:r>
            <a:endParaRPr lang="en-GB" sz="1050" b="1" dirty="0" smtClean="0"/>
          </a:p>
          <a:p>
            <a:pPr marL="0" indent="0">
              <a:buNone/>
            </a:pPr>
            <a:r>
              <a:rPr lang="en-GB" sz="105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sudo</a:t>
            </a:r>
            <a:r>
              <a:rPr lang="en-GB" sz="105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apt install -y </a:t>
            </a:r>
            <a:r>
              <a:rPr lang="en-GB" sz="105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linux</a:t>
            </a:r>
            <a:r>
              <a:rPr lang="en-GB" sz="105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-tools-common </a:t>
            </a:r>
            <a:r>
              <a:rPr lang="en-GB" sz="105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linux</a:t>
            </a:r>
            <a:r>
              <a:rPr lang="en-GB" sz="105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-tools-generic </a:t>
            </a:r>
            <a:r>
              <a:rPr lang="en-GB" sz="105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linux</a:t>
            </a:r>
            <a:r>
              <a:rPr lang="en-GB" sz="105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-tools-$(</a:t>
            </a:r>
            <a:r>
              <a:rPr lang="en-GB" sz="105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uname</a:t>
            </a:r>
            <a:r>
              <a:rPr lang="en-GB" sz="105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-r)</a:t>
            </a:r>
          </a:p>
          <a:p>
            <a:pPr marL="0" indent="0">
              <a:buNone/>
            </a:pPr>
            <a:r>
              <a:rPr lang="en-GB" sz="105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sudo</a:t>
            </a:r>
            <a:r>
              <a:rPr lang="en-GB" sz="105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GB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apt install -y </a:t>
            </a:r>
            <a:r>
              <a:rPr lang="en-GB" sz="105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valgrind</a:t>
            </a:r>
            <a:endParaRPr lang="en-GB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endParaRPr lang="en-GB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GB" sz="1050" b="1" dirty="0" smtClean="0"/>
              <a:t>3</a:t>
            </a:r>
            <a:r>
              <a:rPr lang="en-GB" sz="1050" b="1" dirty="0"/>
              <a:t>. </a:t>
            </a:r>
            <a:r>
              <a:rPr lang="ru-RU" sz="1050" b="1" dirty="0"/>
              <a:t>Подготовка на </a:t>
            </a:r>
            <a:r>
              <a:rPr lang="en-GB" sz="1050" b="1" dirty="0"/>
              <a:t>Python </a:t>
            </a:r>
            <a:r>
              <a:rPr lang="ru-RU" sz="1050" b="1" dirty="0"/>
              <a:t>среда (</a:t>
            </a:r>
            <a:r>
              <a:rPr lang="en-GB" sz="1050" b="1" dirty="0"/>
              <a:t>Virtual Environment)</a:t>
            </a:r>
          </a:p>
          <a:p>
            <a:pPr marL="0" indent="0">
              <a:buNone/>
            </a:pPr>
            <a:r>
              <a:rPr lang="en-GB" sz="105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sudo</a:t>
            </a:r>
            <a:r>
              <a:rPr lang="en-GB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apt install -y python3 python3-venv </a:t>
            </a:r>
            <a:r>
              <a:rPr lang="en-GB" sz="105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python3-pip</a:t>
            </a:r>
          </a:p>
          <a:p>
            <a:pPr marL="0" indent="0">
              <a:buNone/>
            </a:pPr>
            <a:endParaRPr lang="en-GB" sz="105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GB" sz="105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mkdir</a:t>
            </a:r>
            <a:r>
              <a:rPr lang="en-GB" sz="105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GB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-p ~/project/{</a:t>
            </a:r>
            <a:r>
              <a:rPr lang="en-GB" sz="105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benchmark,simulator,results</a:t>
            </a:r>
            <a:r>
              <a:rPr lang="en-GB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}</a:t>
            </a:r>
          </a:p>
          <a:p>
            <a:pPr marL="0" indent="0">
              <a:buNone/>
            </a:pPr>
            <a:r>
              <a:rPr lang="en-GB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python3 -m </a:t>
            </a:r>
            <a:r>
              <a:rPr lang="en-GB" sz="105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venv</a:t>
            </a:r>
            <a:r>
              <a:rPr lang="en-GB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~/project/</a:t>
            </a:r>
            <a:r>
              <a:rPr lang="en-GB" sz="105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venv</a:t>
            </a:r>
            <a:endParaRPr lang="en-GB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endParaRPr lang="en-GB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GB" sz="1050" b="1" dirty="0" smtClean="0"/>
              <a:t>4</a:t>
            </a:r>
            <a:r>
              <a:rPr lang="en-GB" sz="1050" b="1" dirty="0"/>
              <a:t>. </a:t>
            </a:r>
            <a:r>
              <a:rPr lang="ru-RU" sz="1050" b="1" dirty="0" err="1"/>
              <a:t>Активиране</a:t>
            </a:r>
            <a:r>
              <a:rPr lang="ru-RU" sz="1050" b="1" dirty="0"/>
              <a:t> и </a:t>
            </a:r>
            <a:r>
              <a:rPr lang="ru-RU" sz="1050" b="1" dirty="0" err="1"/>
              <a:t>инсталиране</a:t>
            </a:r>
            <a:r>
              <a:rPr lang="ru-RU" sz="1050" b="1" dirty="0"/>
              <a:t> на библиотеки (в </a:t>
            </a:r>
            <a:r>
              <a:rPr lang="ru-RU" sz="1050" b="1" dirty="0" err="1"/>
              <a:t>средата</a:t>
            </a:r>
            <a:r>
              <a:rPr lang="ru-RU" sz="1050" b="1" dirty="0"/>
              <a:t>)</a:t>
            </a:r>
          </a:p>
          <a:p>
            <a:pPr marL="0" indent="0">
              <a:buNone/>
            </a:pPr>
            <a:r>
              <a:rPr lang="en-GB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source ~/project/</a:t>
            </a:r>
            <a:r>
              <a:rPr lang="en-GB" sz="105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venv</a:t>
            </a:r>
            <a:r>
              <a:rPr lang="en-GB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/bin/activate</a:t>
            </a:r>
          </a:p>
          <a:p>
            <a:pPr marL="0" indent="0">
              <a:buNone/>
            </a:pPr>
            <a:r>
              <a:rPr lang="en-GB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pip install </a:t>
            </a:r>
            <a:r>
              <a:rPr lang="en-GB" sz="105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numpy</a:t>
            </a:r>
            <a:r>
              <a:rPr lang="en-GB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pandas </a:t>
            </a:r>
            <a:r>
              <a:rPr lang="en-GB" sz="105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matplotlib</a:t>
            </a:r>
            <a:endParaRPr lang="en-GB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297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11802" y="0"/>
            <a:ext cx="8534400" cy="1507067"/>
          </a:xfrm>
        </p:spPr>
        <p:txBody>
          <a:bodyPr/>
          <a:lstStyle/>
          <a:p>
            <a:r>
              <a:rPr lang="bg-BG" dirty="0" smtClean="0"/>
              <a:t>Проверка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29489" y="1250137"/>
            <a:ext cx="7454733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Преди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bg-BG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пуснем</a:t>
            </a:r>
            <a:r>
              <a:rPr kumimoji="0" lang="bg-BG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проверката се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увер</a:t>
            </a:r>
            <a:r>
              <a:rPr kumimoji="0" lang="bg-BG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яваме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че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папката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съществува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Arial Unicode MS" panose="020B0604020202020204" pitchFamily="34" charset="-128"/>
              </a:rPr>
              <a:t>mkdir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Arial Unicode MS" panose="020B0604020202020204" pitchFamily="34" charset="-128"/>
              </a:rPr>
              <a:t> -p ~/project/results/raw</a:t>
            </a:r>
            <a:endParaRPr kumimoji="0" lang="bg-BG" altLang="en-US" sz="1100" b="0" i="0" u="none" strike="noStrike" cap="none" normalizeH="0" baseline="0" dirty="0" smtClean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bg-BG" altLang="en-US" sz="1000" dirty="0" smtClean="0">
              <a:solidFill>
                <a:schemeClr val="accent4">
                  <a:lumMod val="40000"/>
                  <a:lumOff val="60000"/>
                </a:schemeClr>
              </a:solidFill>
              <a:latin typeface="Arial Unicode MS" panose="020B0604020202020204" pitchFamily="34" charset="-128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bg-BG" altLang="en-US" sz="1200" dirty="0" smtClean="0">
                <a:latin typeface="Arial" panose="020B0604020202020204" pitchFamily="34" charset="0"/>
              </a:rPr>
              <a:t>1. Версия на </a:t>
            </a:r>
            <a:r>
              <a:rPr lang="en-US" altLang="en-US" sz="1200" dirty="0" smtClean="0">
                <a:latin typeface="Arial" panose="020B0604020202020204" pitchFamily="34" charset="0"/>
              </a:rPr>
              <a:t>GCC (</a:t>
            </a:r>
            <a:r>
              <a:rPr lang="bg-BG" altLang="en-US" sz="1200" dirty="0" smtClean="0">
                <a:latin typeface="Arial" panose="020B0604020202020204" pitchFamily="34" charset="0"/>
              </a:rPr>
              <a:t>компилатора)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g++ --version &gt; ~/project/results/raw/gcc_version.txt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200" dirty="0" smtClean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smtClean="0">
                <a:latin typeface="Arial" panose="020B0604020202020204" pitchFamily="34" charset="0"/>
              </a:rPr>
              <a:t>2. </a:t>
            </a:r>
            <a:r>
              <a:rPr lang="bg-BG" altLang="en-US" sz="1200" dirty="0" smtClean="0">
                <a:latin typeface="Arial" panose="020B0604020202020204" pitchFamily="34" charset="0"/>
              </a:rPr>
              <a:t>Версия на </a:t>
            </a:r>
            <a:r>
              <a:rPr lang="en-US" altLang="en-US" sz="1200" dirty="0" smtClean="0">
                <a:latin typeface="Arial" panose="020B0604020202020204" pitchFamily="34" charset="0"/>
              </a:rPr>
              <a:t>Python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python3 --version &gt; ~/project/results/raw/python_version.txt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200" dirty="0" smtClean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smtClean="0">
                <a:latin typeface="Arial" panose="020B0604020202020204" pitchFamily="34" charset="0"/>
              </a:rPr>
              <a:t>3. </a:t>
            </a:r>
            <a:r>
              <a:rPr lang="bg-BG" altLang="en-US" sz="1200" dirty="0" smtClean="0">
                <a:latin typeface="Arial" panose="020B0604020202020204" pitchFamily="34" charset="0"/>
              </a:rPr>
              <a:t>Информация за библиотека </a:t>
            </a:r>
            <a:r>
              <a:rPr lang="en-US" altLang="en-US" sz="1200" dirty="0" err="1" smtClean="0">
                <a:latin typeface="Arial" panose="020B0604020202020204" pitchFamily="34" charset="0"/>
              </a:rPr>
              <a:t>NumPy</a:t>
            </a:r>
            <a:r>
              <a:rPr lang="en-US" altLang="en-US" sz="1200" dirty="0" smtClean="0">
                <a:latin typeface="Arial" panose="020B0604020202020204" pitchFamily="34" charset="0"/>
              </a:rPr>
              <a:t> (</a:t>
            </a:r>
            <a:r>
              <a:rPr lang="bg-BG" altLang="en-US" sz="1200" dirty="0" smtClean="0">
                <a:latin typeface="Arial" panose="020B0604020202020204" pitchFamily="34" charset="0"/>
              </a:rPr>
              <a:t>Виж бележката долу за грешката!)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python3 -m pip show </a:t>
            </a:r>
            <a:r>
              <a:rPr lang="en-US" altLang="en-US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numpy</a:t>
            </a:r>
            <a:r>
              <a:rPr lang="en-US" altLang="en-US" sz="1200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 &gt; ~/project/results/raw/numpy_info.txt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200" dirty="0" smtClean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smtClean="0">
                <a:latin typeface="Arial" panose="020B0604020202020204" pitchFamily="34" charset="0"/>
              </a:rPr>
              <a:t>4. </a:t>
            </a:r>
            <a:r>
              <a:rPr lang="bg-BG" altLang="en-US" sz="1200" dirty="0" smtClean="0">
                <a:latin typeface="Arial" panose="020B0604020202020204" pitchFamily="34" charset="0"/>
              </a:rPr>
              <a:t>Версия на </a:t>
            </a:r>
            <a:r>
              <a:rPr lang="en-US" altLang="en-US" sz="1200" dirty="0" err="1" smtClean="0">
                <a:latin typeface="Arial" panose="020B0604020202020204" pitchFamily="34" charset="0"/>
              </a:rPr>
              <a:t>Valgrind</a:t>
            </a:r>
            <a:endParaRPr lang="en-US" altLang="en-US" sz="1200" dirty="0" smtClean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valgrind</a:t>
            </a:r>
            <a:r>
              <a:rPr lang="en-US" altLang="en-US" sz="1200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 --version &gt; ~/project/results/raw/valgrind_version.txt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200" dirty="0" smtClean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smtClean="0">
                <a:latin typeface="Arial" panose="020B0604020202020204" pitchFamily="34" charset="0"/>
              </a:rPr>
              <a:t>5. </a:t>
            </a:r>
            <a:r>
              <a:rPr lang="bg-BG" altLang="en-US" sz="1200" dirty="0" smtClean="0">
                <a:latin typeface="Arial" panose="020B0604020202020204" pitchFamily="34" charset="0"/>
              </a:rPr>
              <a:t>Версия на </a:t>
            </a:r>
            <a:r>
              <a:rPr lang="en-US" altLang="en-US" sz="1200" dirty="0" smtClean="0">
                <a:latin typeface="Arial" panose="020B0604020202020204" pitchFamily="34" charset="0"/>
              </a:rPr>
              <a:t>Perf (</a:t>
            </a:r>
            <a:r>
              <a:rPr lang="bg-BG" altLang="en-US" sz="1200" dirty="0" smtClean="0">
                <a:latin typeface="Arial" panose="020B0604020202020204" pitchFamily="34" charset="0"/>
              </a:rPr>
              <a:t>изисква </a:t>
            </a:r>
            <a:r>
              <a:rPr lang="en-US" altLang="en-US" sz="1200" dirty="0" err="1" smtClean="0">
                <a:latin typeface="Arial" panose="020B0604020202020204" pitchFamily="34" charset="0"/>
              </a:rPr>
              <a:t>sudo</a:t>
            </a:r>
            <a:r>
              <a:rPr lang="en-US" altLang="en-US" sz="1200" dirty="0" smtClean="0">
                <a:latin typeface="Arial" panose="020B0604020202020204" pitchFamily="34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sudo</a:t>
            </a:r>
            <a:r>
              <a:rPr lang="en-US" altLang="en-US" sz="1200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 perf --version &gt; ~/project/results/raw/perf_version.txt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200" dirty="0" smtClean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smtClean="0">
                <a:latin typeface="Arial" panose="020B0604020202020204" pitchFamily="34" charset="0"/>
              </a:rPr>
              <a:t>6. </a:t>
            </a:r>
            <a:r>
              <a:rPr lang="bg-BG" altLang="en-US" sz="1200" dirty="0" smtClean="0">
                <a:latin typeface="Arial" panose="020B0604020202020204" pitchFamily="34" charset="0"/>
              </a:rPr>
              <a:t>Информация за ядрото (</a:t>
            </a:r>
            <a:r>
              <a:rPr lang="en-US" altLang="en-US" sz="1200" dirty="0" smtClean="0">
                <a:latin typeface="Arial" panose="020B0604020202020204" pitchFamily="34" charset="0"/>
              </a:rPr>
              <a:t>Kernel)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uname</a:t>
            </a:r>
            <a:r>
              <a:rPr lang="en-US" altLang="en-US" sz="1200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 -a &gt; ~/project/results/raw/uname.txt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200" dirty="0" smtClean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smtClean="0">
                <a:latin typeface="Arial" panose="020B0604020202020204" pitchFamily="34" charset="0"/>
              </a:rPr>
              <a:t>7. </a:t>
            </a:r>
            <a:r>
              <a:rPr lang="bg-BG" altLang="en-US" sz="1200" dirty="0" smtClean="0">
                <a:latin typeface="Arial" panose="020B0604020202020204" pitchFamily="34" charset="0"/>
              </a:rPr>
              <a:t>Информация за процесора (</a:t>
            </a:r>
            <a:r>
              <a:rPr lang="en-US" altLang="en-US" sz="1200" dirty="0" smtClean="0">
                <a:latin typeface="Arial" panose="020B0604020202020204" pitchFamily="34" charset="0"/>
              </a:rPr>
              <a:t>CPU)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lscpu</a:t>
            </a:r>
            <a:r>
              <a:rPr lang="en-US" altLang="en-US" sz="1200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 &gt; ~/project/results/raw/lscpu.txt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200" dirty="0" smtClean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smtClean="0">
                <a:latin typeface="Arial" panose="020B0604020202020204" pitchFamily="34" charset="0"/>
              </a:rPr>
              <a:t>8. </a:t>
            </a:r>
            <a:r>
              <a:rPr lang="bg-BG" altLang="en-US" sz="1200" dirty="0" smtClean="0">
                <a:latin typeface="Arial" panose="020B0604020202020204" pitchFamily="34" charset="0"/>
              </a:rPr>
              <a:t>Информация за паметта (</a:t>
            </a:r>
            <a:r>
              <a:rPr lang="en-US" altLang="en-US" sz="1200" dirty="0" smtClean="0">
                <a:latin typeface="Arial" panose="020B0604020202020204" pitchFamily="34" charset="0"/>
              </a:rPr>
              <a:t>RAM)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cat /proc/</a:t>
            </a:r>
            <a:r>
              <a:rPr lang="en-US" altLang="en-US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meminfo</a:t>
            </a:r>
            <a:r>
              <a:rPr lang="en-US" altLang="en-US" sz="1200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 &gt; ~/project/results/raw/meminfo.txt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Screenshot 2025-11-18 20243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723" y="4732831"/>
            <a:ext cx="4881926" cy="11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авоъгълник 5"/>
          <p:cNvSpPr/>
          <p:nvPr/>
        </p:nvSpPr>
        <p:spPr>
          <a:xfrm>
            <a:off x="6438280" y="2427451"/>
            <a:ext cx="52833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err="1" smtClean="0"/>
              <a:t>Команда</a:t>
            </a:r>
            <a:r>
              <a:rPr lang="en-GB" sz="1200" dirty="0" smtClean="0"/>
              <a:t>                | </a:t>
            </a:r>
            <a:r>
              <a:rPr lang="en-GB" sz="1200" dirty="0" err="1" smtClean="0"/>
              <a:t>Файл</a:t>
            </a:r>
            <a:r>
              <a:rPr lang="en-GB" sz="1200" dirty="0" smtClean="0"/>
              <a:t> с </a:t>
            </a:r>
            <a:r>
              <a:rPr lang="en-GB" sz="1200" dirty="0" err="1" smtClean="0"/>
              <a:t>резултат</a:t>
            </a:r>
            <a:endParaRPr lang="en-GB" sz="1200" dirty="0" smtClean="0"/>
          </a:p>
          <a:p>
            <a:r>
              <a:rPr lang="en-GB" sz="1200" dirty="0" smtClean="0"/>
              <a:t>----------------------</a:t>
            </a:r>
            <a:r>
              <a:rPr lang="bg-BG" sz="1200" dirty="0" smtClean="0"/>
              <a:t>-</a:t>
            </a:r>
            <a:r>
              <a:rPr lang="en-GB" sz="1200" dirty="0" smtClean="0"/>
              <a:t>----</a:t>
            </a:r>
            <a:r>
              <a:rPr lang="bg-BG" sz="1200" dirty="0" smtClean="0"/>
              <a:t> </a:t>
            </a:r>
            <a:r>
              <a:rPr lang="en-GB" sz="1200" dirty="0" smtClean="0"/>
              <a:t>| -------------------------</a:t>
            </a:r>
          </a:p>
          <a:p>
            <a:r>
              <a:rPr lang="en-GB" sz="1200" dirty="0" err="1" smtClean="0"/>
              <a:t>gcc</a:t>
            </a:r>
            <a:r>
              <a:rPr lang="en-GB" sz="1200" dirty="0" smtClean="0"/>
              <a:t> --version     </a:t>
            </a:r>
            <a:r>
              <a:rPr lang="bg-BG" sz="1200" dirty="0" smtClean="0"/>
              <a:t> </a:t>
            </a:r>
            <a:r>
              <a:rPr lang="en-GB" sz="1200" dirty="0" smtClean="0"/>
              <a:t>    </a:t>
            </a:r>
            <a:r>
              <a:rPr lang="bg-BG" sz="1200" dirty="0" smtClean="0"/>
              <a:t> </a:t>
            </a:r>
            <a:r>
              <a:rPr lang="en-GB" sz="1200" dirty="0" smtClean="0"/>
              <a:t>| results/gcc_version.txt</a:t>
            </a:r>
          </a:p>
          <a:p>
            <a:r>
              <a:rPr lang="en-GB" sz="1200" dirty="0" smtClean="0"/>
              <a:t>python3 –</a:t>
            </a:r>
            <a:r>
              <a:rPr lang="en-GB" sz="1200" dirty="0" err="1" smtClean="0"/>
              <a:t>versio</a:t>
            </a:r>
            <a:r>
              <a:rPr lang="bg-BG" sz="1200" dirty="0" smtClean="0"/>
              <a:t>  </a:t>
            </a:r>
            <a:r>
              <a:rPr lang="en-GB" sz="1200" dirty="0" smtClean="0"/>
              <a:t>     | results/python_version.txt</a:t>
            </a:r>
          </a:p>
          <a:p>
            <a:r>
              <a:rPr lang="en-GB" sz="1200" dirty="0" err="1" smtClean="0"/>
              <a:t>lscpu</a:t>
            </a:r>
            <a:r>
              <a:rPr lang="en-GB" sz="1200" dirty="0" smtClean="0"/>
              <a:t>                    </a:t>
            </a:r>
            <a:r>
              <a:rPr lang="bg-BG" sz="1200" dirty="0" smtClean="0"/>
              <a:t>  </a:t>
            </a:r>
            <a:r>
              <a:rPr lang="en-GB" sz="1200" dirty="0" smtClean="0"/>
              <a:t>   | results/lscpu.txt</a:t>
            </a:r>
          </a:p>
          <a:p>
            <a:r>
              <a:rPr lang="en-GB" sz="1200" dirty="0" err="1" smtClean="0"/>
              <a:t>valgrind</a:t>
            </a:r>
            <a:r>
              <a:rPr lang="en-GB" sz="1200" dirty="0" smtClean="0"/>
              <a:t> –version</a:t>
            </a:r>
            <a:r>
              <a:rPr lang="bg-BG" sz="1200" dirty="0" smtClean="0"/>
              <a:t>  </a:t>
            </a:r>
            <a:r>
              <a:rPr lang="bg-BG" sz="1200" dirty="0"/>
              <a:t> </a:t>
            </a:r>
            <a:r>
              <a:rPr lang="bg-BG" sz="1200" dirty="0" smtClean="0"/>
              <a:t>   </a:t>
            </a:r>
            <a:r>
              <a:rPr lang="en-GB" sz="1200" dirty="0" smtClean="0"/>
              <a:t>| results/valgrind_version.txt</a:t>
            </a:r>
          </a:p>
          <a:p>
            <a:r>
              <a:rPr lang="en-GB" sz="1200" dirty="0" err="1" smtClean="0"/>
              <a:t>sudo</a:t>
            </a:r>
            <a:r>
              <a:rPr lang="en-GB" sz="1200" dirty="0" smtClean="0"/>
              <a:t> perf --version   | results/perf_version.txt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121036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522616" y="-70945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ru-RU" altLang="en-US" b="1" cap="none" dirty="0">
                <a:ln>
                  <a:noFill/>
                </a:ln>
                <a:latin typeface="Arial" panose="020B0604020202020204" pitchFamily="34" charset="0"/>
              </a:rPr>
              <a:t>Архитектура и Реализация на </a:t>
            </a:r>
            <a:r>
              <a:rPr lang="ru-RU" altLang="en-US" b="1" cap="none" dirty="0" err="1">
                <a:ln>
                  <a:noFill/>
                </a:ln>
                <a:latin typeface="Arial" panose="020B0604020202020204" pitchFamily="34" charset="0"/>
              </a:rPr>
              <a:t>Симулатор</a:t>
            </a:r>
            <a:r>
              <a:rPr lang="ru-RU" altLang="en-US" b="1" cap="none" dirty="0">
                <a:ln>
                  <a:noFill/>
                </a:ln>
                <a:latin typeface="Arial" panose="020B0604020202020204" pitchFamily="34" charset="0"/>
              </a:rPr>
              <a:t> за </a:t>
            </a:r>
            <a:r>
              <a:rPr lang="ru-RU" altLang="en-US" b="1" cap="none" dirty="0" err="1">
                <a:ln>
                  <a:noFill/>
                </a:ln>
                <a:latin typeface="Arial" panose="020B0604020202020204" pitchFamily="34" charset="0"/>
              </a:rPr>
              <a:t>Памет</a:t>
            </a:r>
            <a:r>
              <a:rPr lang="ru-RU" altLang="en-US" b="1" cap="none" dirty="0">
                <a:ln>
                  <a:noFill/>
                </a:ln>
                <a:latin typeface="Arial" panose="020B0604020202020204" pitchFamily="34" charset="0"/>
              </a:rPr>
              <a:t> (TLB, </a:t>
            </a:r>
            <a:r>
              <a:rPr lang="ru-RU" altLang="en-US" b="1" cap="none" dirty="0" err="1">
                <a:ln>
                  <a:noFill/>
                </a:ln>
                <a:latin typeface="Arial" panose="020B0604020202020204" pitchFamily="34" charset="0"/>
              </a:rPr>
              <a:t>Page</a:t>
            </a:r>
            <a:r>
              <a:rPr lang="ru-RU" altLang="en-US" b="1" cap="none" dirty="0">
                <a:ln>
                  <a:noFill/>
                </a:ln>
                <a:latin typeface="Arial" panose="020B0604020202020204" pitchFamily="34" charset="0"/>
              </a:rPr>
              <a:t> </a:t>
            </a:r>
            <a:r>
              <a:rPr lang="ru-RU" altLang="en-US" b="1" cap="none" dirty="0" err="1">
                <a:ln>
                  <a:noFill/>
                </a:ln>
                <a:latin typeface="Arial" panose="020B0604020202020204" pitchFamily="34" charset="0"/>
              </a:rPr>
              <a:t>Table</a:t>
            </a:r>
            <a:r>
              <a:rPr lang="ru-RU" altLang="en-US" b="1" cap="none" dirty="0">
                <a:ln>
                  <a:noFill/>
                </a:ln>
                <a:latin typeface="Arial" panose="020B0604020202020204" pitchFamily="34" charset="0"/>
              </a:rPr>
              <a:t>, </a:t>
            </a:r>
            <a:r>
              <a:rPr lang="ru-RU" altLang="en-US" b="1" cap="none" dirty="0" err="1">
                <a:ln>
                  <a:noFill/>
                </a:ln>
                <a:latin typeface="Arial" panose="020B0604020202020204" pitchFamily="34" charset="0"/>
              </a:rPr>
              <a:t>Cache</a:t>
            </a:r>
            <a:r>
              <a:rPr lang="ru-RU" altLang="en-US" b="1" cap="none" dirty="0">
                <a:ln>
                  <a:noFill/>
                </a:ln>
                <a:latin typeface="Arial" panose="020B0604020202020204" pitchFamily="34" charset="0"/>
              </a:rPr>
              <a:t>)</a:t>
            </a:r>
            <a:endParaRPr lang="en-GB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554547" y="1164810"/>
            <a:ext cx="8534400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1300" b="1" dirty="0"/>
              <a:t>Основни компоненти</a:t>
            </a:r>
          </a:p>
          <a:p>
            <a:pPr marL="0" indent="0">
              <a:buNone/>
            </a:pPr>
            <a:r>
              <a:rPr lang="en-GB" sz="1300" b="1" dirty="0"/>
              <a:t>TLB (Translation Lookaside Buffer)</a:t>
            </a:r>
            <a:endParaRPr lang="en-GB" sz="1300" dirty="0"/>
          </a:p>
          <a:p>
            <a:pPr lvl="1"/>
            <a:r>
              <a:rPr lang="en-GB" sz="1300" dirty="0"/>
              <a:t>LRU </a:t>
            </a:r>
            <a:r>
              <a:rPr lang="bg-BG" sz="1300" dirty="0"/>
              <a:t>кеш за виртуални страници → физически рамки</a:t>
            </a:r>
          </a:p>
          <a:p>
            <a:pPr marL="0" indent="0">
              <a:buNone/>
            </a:pPr>
            <a:r>
              <a:rPr lang="en-GB" sz="1300" b="1" dirty="0"/>
              <a:t>Page Table</a:t>
            </a:r>
            <a:endParaRPr lang="en-GB" sz="1300" dirty="0"/>
          </a:p>
          <a:p>
            <a:pPr lvl="1"/>
            <a:r>
              <a:rPr lang="bg-BG" sz="1300" dirty="0"/>
              <a:t>Симулира </a:t>
            </a:r>
            <a:r>
              <a:rPr lang="en-GB" sz="1300" dirty="0"/>
              <a:t>map-</a:t>
            </a:r>
            <a:r>
              <a:rPr lang="bg-BG" sz="1300" dirty="0" err="1"/>
              <a:t>ване</a:t>
            </a:r>
            <a:r>
              <a:rPr lang="bg-BG" sz="1300" dirty="0"/>
              <a:t> на виртуални страници</a:t>
            </a:r>
          </a:p>
          <a:p>
            <a:pPr lvl="1"/>
            <a:r>
              <a:rPr lang="bg-BG" sz="1300" dirty="0"/>
              <a:t>Управлява </a:t>
            </a:r>
            <a:r>
              <a:rPr lang="en-GB" sz="1300" dirty="0"/>
              <a:t>page faults </a:t>
            </a:r>
            <a:r>
              <a:rPr lang="bg-BG" sz="1300" dirty="0"/>
              <a:t>и рамките</a:t>
            </a:r>
          </a:p>
          <a:p>
            <a:pPr marL="0" indent="0">
              <a:buNone/>
            </a:pPr>
            <a:r>
              <a:rPr lang="en-GB" sz="1300" b="1" dirty="0"/>
              <a:t>Cache (Set-Associative, LRU)</a:t>
            </a:r>
            <a:endParaRPr lang="en-GB" sz="1300" dirty="0"/>
          </a:p>
          <a:p>
            <a:pPr lvl="1"/>
            <a:r>
              <a:rPr lang="bg-BG" sz="1300" dirty="0"/>
              <a:t>Симулира </a:t>
            </a:r>
            <a:r>
              <a:rPr lang="en-GB" sz="1300" dirty="0"/>
              <a:t>L1/L2 </a:t>
            </a:r>
            <a:r>
              <a:rPr lang="bg-BG" sz="1300" dirty="0"/>
              <a:t>принцип</a:t>
            </a:r>
          </a:p>
          <a:p>
            <a:pPr lvl="1"/>
            <a:r>
              <a:rPr lang="bg-BG" sz="1300" dirty="0"/>
              <a:t>Отчита </a:t>
            </a:r>
            <a:r>
              <a:rPr lang="en-GB" sz="1300" dirty="0" smtClean="0"/>
              <a:t>hits/misses</a:t>
            </a:r>
          </a:p>
        </p:txBody>
      </p:sp>
      <p:sp>
        <p:nvSpPr>
          <p:cNvPr id="10" name="Правоъгълник 9"/>
          <p:cNvSpPr/>
          <p:nvPr/>
        </p:nvSpPr>
        <p:spPr>
          <a:xfrm>
            <a:off x="522616" y="4575768"/>
            <a:ext cx="4828566" cy="2092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endParaRPr lang="en-GB" sz="13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bg-BG" sz="1300" b="1" dirty="0" smtClean="0">
                <a:solidFill>
                  <a:schemeClr val="bg2">
                    <a:lumMod val="75000"/>
                  </a:schemeClr>
                </a:solidFill>
              </a:rPr>
              <a:t>Поток на обработка (</a:t>
            </a:r>
            <a:r>
              <a:rPr lang="en-GB" sz="1300" b="1" dirty="0" smtClean="0">
                <a:solidFill>
                  <a:schemeClr val="bg2">
                    <a:lumMod val="75000"/>
                  </a:schemeClr>
                </a:solidFill>
              </a:rPr>
              <a:t>Pipeline)</a:t>
            </a:r>
          </a:p>
          <a:p>
            <a:endParaRPr lang="en-GB" sz="13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bg-BG" sz="1300" b="1" dirty="0" smtClean="0">
                <a:solidFill>
                  <a:schemeClr val="bg2">
                    <a:lumMod val="75000"/>
                  </a:schemeClr>
                </a:solidFill>
              </a:rPr>
              <a:t>Всяка заявка преминава през:</a:t>
            </a:r>
          </a:p>
          <a:p>
            <a:r>
              <a:rPr lang="en-GB" sz="1300" b="1" dirty="0" smtClean="0">
                <a:solidFill>
                  <a:schemeClr val="bg2">
                    <a:lumMod val="75000"/>
                  </a:schemeClr>
                </a:solidFill>
              </a:rPr>
              <a:t>TLB Lookup</a:t>
            </a:r>
            <a:endParaRPr lang="en-GB" sz="1300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bg-BG" sz="1300" dirty="0" smtClean="0">
                <a:solidFill>
                  <a:schemeClr val="bg2">
                    <a:lumMod val="75000"/>
                  </a:schemeClr>
                </a:solidFill>
              </a:rPr>
              <a:t>При </a:t>
            </a:r>
            <a:r>
              <a:rPr lang="en-GB" sz="1300" dirty="0" smtClean="0">
                <a:solidFill>
                  <a:schemeClr val="bg2">
                    <a:lumMod val="75000"/>
                  </a:schemeClr>
                </a:solidFill>
              </a:rPr>
              <a:t>miss → </a:t>
            </a:r>
            <a:r>
              <a:rPr lang="en-GB" sz="1300" b="1" dirty="0" smtClean="0">
                <a:solidFill>
                  <a:schemeClr val="bg2">
                    <a:lumMod val="75000"/>
                  </a:schemeClr>
                </a:solidFill>
              </a:rPr>
              <a:t>Page Table Lookup</a:t>
            </a:r>
            <a:r>
              <a:rPr lang="en-GB" sz="1300" dirty="0" smtClean="0">
                <a:solidFill>
                  <a:schemeClr val="bg2">
                    <a:lumMod val="75000"/>
                  </a:schemeClr>
                </a:solidFill>
              </a:rPr>
              <a:t> + Page Fault </a:t>
            </a:r>
            <a:r>
              <a:rPr lang="bg-BG" sz="1300" dirty="0" smtClean="0">
                <a:solidFill>
                  <a:schemeClr val="bg2">
                    <a:lumMod val="75000"/>
                  </a:schemeClr>
                </a:solidFill>
              </a:rPr>
              <a:t>ако е нужно</a:t>
            </a:r>
          </a:p>
          <a:p>
            <a:r>
              <a:rPr lang="bg-BG" sz="1300" dirty="0" smtClean="0">
                <a:solidFill>
                  <a:schemeClr val="bg2">
                    <a:lumMod val="75000"/>
                  </a:schemeClr>
                </a:solidFill>
              </a:rPr>
              <a:t>Образуване на физически адрес</a:t>
            </a:r>
          </a:p>
          <a:p>
            <a:r>
              <a:rPr lang="en-GB" sz="1300" b="1" dirty="0" smtClean="0">
                <a:solidFill>
                  <a:schemeClr val="bg2">
                    <a:lumMod val="75000"/>
                  </a:schemeClr>
                </a:solidFill>
              </a:rPr>
              <a:t>Cache Access (LRU, set-associative)</a:t>
            </a:r>
            <a:endParaRPr lang="en-GB" sz="1300" dirty="0" smtClean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bg-BG" sz="1300" dirty="0" smtClean="0">
                <a:solidFill>
                  <a:schemeClr val="bg2">
                    <a:lumMod val="75000"/>
                  </a:schemeClr>
                </a:solidFill>
              </a:rPr>
              <a:t>Запис на статистика</a:t>
            </a:r>
          </a:p>
          <a:p>
            <a:pPr lvl="1"/>
            <a:endParaRPr lang="en-GB" sz="1300" b="1" dirty="0" smtClean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1" name="Картина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463" y="1657513"/>
            <a:ext cx="2420126" cy="426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47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11802" y="0"/>
            <a:ext cx="8534400" cy="1507067"/>
          </a:xfrm>
        </p:spPr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cap="none" dirty="0" err="1">
                <a:ln>
                  <a:noFill/>
                </a:ln>
                <a:latin typeface="Arial" panose="020B0604020202020204" pitchFamily="34" charset="0"/>
              </a:rPr>
              <a:t>Конфигурационни</a:t>
            </a:r>
            <a:r>
              <a:rPr lang="en-US" altLang="en-US" b="1" cap="none" dirty="0">
                <a:ln>
                  <a:noFill/>
                </a:ln>
                <a:latin typeface="Arial" panose="020B0604020202020204" pitchFamily="34" charset="0"/>
              </a:rPr>
              <a:t> </a:t>
            </a:r>
            <a:r>
              <a:rPr lang="en-US" altLang="en-US" b="1" cap="none" dirty="0" err="1">
                <a:ln>
                  <a:noFill/>
                </a:ln>
                <a:latin typeface="Arial" panose="020B0604020202020204" pitchFamily="34" charset="0"/>
              </a:rPr>
              <a:t>параметри</a:t>
            </a:r>
            <a:endParaRPr lang="en-US" altLang="en-US" b="1" cap="none" dirty="0">
              <a:ln>
                <a:noFill/>
              </a:ln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2844" y="1888705"/>
            <a:ext cx="496745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effectLst/>
                <a:latin typeface="Arial" panose="020B0604020202020204" pitchFamily="34" charset="0"/>
              </a:rPr>
              <a:t>Настройки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effectLst/>
                <a:latin typeface="Arial" panose="020B0604020202020204" pitchFamily="34" charset="0"/>
              </a:rPr>
              <a:t>които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effectLst/>
                <a:latin typeface="Arial" panose="020B0604020202020204" pitchFamily="34" charset="0"/>
              </a:rPr>
              <a:t>могат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effectLst/>
                <a:latin typeface="Arial" panose="020B0604020202020204" pitchFamily="34" charset="0"/>
              </a:rPr>
              <a:t>да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effectLst/>
                <a:latin typeface="Arial" panose="020B0604020202020204" pitchFamily="34" charset="0"/>
              </a:rPr>
              <a:t>се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effectLst/>
                <a:latin typeface="Arial" panose="020B0604020202020204" pitchFamily="34" charset="0"/>
              </a:rPr>
              <a:t>променят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effectLst/>
                <a:latin typeface="Arial" panose="020B0604020202020204" pitchFamily="34" charset="0"/>
              </a:rPr>
              <a:t>симулатора</a:t>
            </a:r>
            <a:endParaRPr kumimoji="0" lang="en-US" altLang="en-US" sz="1400" b="1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effectLst/>
                <a:latin typeface="Arial Unicode MS" panose="020B0604020202020204" pitchFamily="34" charset="-128"/>
              </a:rPr>
              <a:t>page_size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</a:rPr>
              <a:t>: 4096 B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effectLst/>
                <a:latin typeface="Arial Unicode MS" panose="020B0604020202020204" pitchFamily="34" charset="-128"/>
              </a:rPr>
              <a:t>tlb_entries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</a:rPr>
              <a:t>: 32 / 64 / 256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effectLst/>
                <a:latin typeface="Arial Unicode MS" panose="020B0604020202020204" pitchFamily="34" charset="-128"/>
              </a:rPr>
              <a:t>num_frames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</a:rPr>
              <a:t>: 1024 / 2048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effectLst/>
                <a:latin typeface="Arial Unicode MS" panose="020B0604020202020204" pitchFamily="34" charset="-128"/>
              </a:rPr>
              <a:t>cache_size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</a:rPr>
              <a:t>: 32 KB / 256 KB / 8 MB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effectLst/>
                <a:latin typeface="Arial Unicode MS" panose="020B0604020202020204" pitchFamily="34" charset="-128"/>
              </a:rPr>
              <a:t>line_size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</a:rPr>
              <a:t>: 64 B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  <a:latin typeface="Arial Unicode MS" panose="020B0604020202020204" pitchFamily="34" charset="-128"/>
              </a:rPr>
              <a:t>associativity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</a:rPr>
              <a:t>: 1, 2, 4, 8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effectLst/>
                <a:latin typeface="Arial Unicode MS" panose="020B0604020202020204" pitchFamily="34" charset="-128"/>
              </a:rPr>
              <a:t>replacement_policy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effectLst/>
              </a:rPr>
              <a:t>: LRU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55"/>
          <a:stretch/>
        </p:blipFill>
        <p:spPr>
          <a:xfrm>
            <a:off x="5603978" y="1921149"/>
            <a:ext cx="5464729" cy="3762320"/>
          </a:xfrm>
          <a:prstGeom prst="rect">
            <a:avLst/>
          </a:prstGeom>
        </p:spPr>
      </p:pic>
      <p:sp>
        <p:nvSpPr>
          <p:cNvPr id="6" name="Правоъгълник 5"/>
          <p:cNvSpPr/>
          <p:nvPr/>
        </p:nvSpPr>
        <p:spPr>
          <a:xfrm>
            <a:off x="372844" y="4133432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b="1" dirty="0" err="1" smtClean="0">
                <a:solidFill>
                  <a:schemeClr val="bg2">
                    <a:lumMod val="75000"/>
                  </a:schemeClr>
                </a:solidFill>
              </a:rPr>
              <a:t>Какво</a:t>
            </a:r>
            <a:r>
              <a:rPr lang="ru-RU" sz="1400" b="1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ru-RU" sz="1400" b="1" dirty="0" err="1" smtClean="0">
                <a:solidFill>
                  <a:schemeClr val="bg2">
                    <a:lumMod val="75000"/>
                  </a:schemeClr>
                </a:solidFill>
              </a:rPr>
              <a:t>прави</a:t>
            </a:r>
            <a:r>
              <a:rPr lang="ru-RU" sz="1400" b="1" dirty="0" smtClean="0">
                <a:solidFill>
                  <a:schemeClr val="bg2">
                    <a:lumMod val="75000"/>
                  </a:schemeClr>
                </a:solidFill>
              </a:rPr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 err="1" smtClean="0">
                <a:solidFill>
                  <a:schemeClr val="bg2">
                    <a:lumMod val="75000"/>
                  </a:schemeClr>
                </a:solidFill>
              </a:rPr>
              <a:t>генерира</a:t>
            </a:r>
            <a:r>
              <a:rPr lang="ru-RU" sz="1400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ru-RU" sz="1400" dirty="0" err="1" smtClean="0">
                <a:solidFill>
                  <a:schemeClr val="bg2">
                    <a:lumMod val="75000"/>
                  </a:schemeClr>
                </a:solidFill>
              </a:rPr>
              <a:t>виртуални</a:t>
            </a:r>
            <a:r>
              <a:rPr lang="ru-RU" sz="1400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ru-RU" sz="1400" dirty="0" err="1" smtClean="0">
                <a:solidFill>
                  <a:schemeClr val="bg2">
                    <a:lumMod val="75000"/>
                  </a:schemeClr>
                </a:solidFill>
              </a:rPr>
              <a:t>адреси</a:t>
            </a:r>
            <a:endParaRPr lang="ru-RU" sz="1400" dirty="0" smtClean="0">
              <a:solidFill>
                <a:schemeClr val="bg2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 err="1" smtClean="0">
                <a:solidFill>
                  <a:schemeClr val="bg2">
                    <a:lumMod val="75000"/>
                  </a:schemeClr>
                </a:solidFill>
              </a:rPr>
              <a:t>различни</a:t>
            </a:r>
            <a:r>
              <a:rPr lang="ru-RU" sz="1400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ru-RU" sz="1400" dirty="0" err="1" smtClean="0">
                <a:solidFill>
                  <a:schemeClr val="bg2">
                    <a:lumMod val="75000"/>
                  </a:schemeClr>
                </a:solidFill>
              </a:rPr>
              <a:t>stride</a:t>
            </a:r>
            <a:r>
              <a:rPr lang="ru-RU" sz="1400" dirty="0" smtClean="0">
                <a:solidFill>
                  <a:schemeClr val="bg2">
                    <a:lumMod val="75000"/>
                  </a:schemeClr>
                </a:solidFill>
              </a:rPr>
              <a:t> модели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 err="1" smtClean="0">
                <a:solidFill>
                  <a:schemeClr val="bg2">
                    <a:lumMod val="75000"/>
                  </a:schemeClr>
                </a:solidFill>
              </a:rPr>
              <a:t>създава</a:t>
            </a:r>
            <a:r>
              <a:rPr lang="ru-RU" sz="1400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ru-RU" sz="1400" dirty="0" err="1" smtClean="0">
                <a:solidFill>
                  <a:schemeClr val="bg2">
                    <a:lumMod val="75000"/>
                  </a:schemeClr>
                </a:solidFill>
              </a:rPr>
              <a:t>reproducible</a:t>
            </a:r>
            <a:r>
              <a:rPr lang="ru-RU" sz="1400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ru-RU" sz="1400" dirty="0" err="1" smtClean="0">
                <a:solidFill>
                  <a:schemeClr val="bg2">
                    <a:lumMod val="75000"/>
                  </a:schemeClr>
                </a:solidFill>
              </a:rPr>
              <a:t>експерименти</a:t>
            </a:r>
            <a:endParaRPr lang="ru-RU" sz="14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379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11802" y="0"/>
            <a:ext cx="8534400" cy="1507067"/>
          </a:xfrm>
        </p:spPr>
        <p:txBody>
          <a:bodyPr/>
          <a:lstStyle/>
          <a:p>
            <a:r>
              <a:rPr lang="en-GB" dirty="0"/>
              <a:t>TLB (LRU) – </a:t>
            </a:r>
            <a:r>
              <a:rPr lang="bg-BG" dirty="0"/>
              <a:t>реализация</a:t>
            </a:r>
            <a:endParaRPr lang="en-GB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799622" y="2045576"/>
            <a:ext cx="8534400" cy="36152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class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LRUCache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def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__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init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__(self, capacity):</a:t>
            </a:r>
          </a:p>
          <a:p>
            <a:pPr marL="0" indent="0">
              <a:buNone/>
            </a:pP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   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self.cap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= capacity</a:t>
            </a:r>
          </a:p>
          <a:p>
            <a:pPr marL="0" indent="0">
              <a:buNone/>
            </a:pP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   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self.cache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=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OrderedDict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()</a:t>
            </a:r>
          </a:p>
          <a:p>
            <a:pPr marL="0" indent="0">
              <a:buNone/>
            </a:pPr>
            <a:endParaRPr lang="en-GB" sz="12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def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get(self, key):</a:t>
            </a:r>
          </a:p>
          <a:p>
            <a:pPr marL="0" indent="0">
              <a:buNone/>
            </a:pP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    if key in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self.cache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       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self.cache.move_to_end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(key)</a:t>
            </a:r>
          </a:p>
          <a:p>
            <a:pPr marL="0" indent="0">
              <a:buNone/>
            </a:pP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        return True,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self.cache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[key]</a:t>
            </a:r>
          </a:p>
          <a:p>
            <a:pPr marL="0" indent="0">
              <a:buNone/>
            </a:pP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    return False, None</a:t>
            </a:r>
          </a:p>
          <a:p>
            <a:pPr marL="0" indent="0">
              <a:buNone/>
            </a:pPr>
            <a:endParaRPr lang="en-GB" sz="12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def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put(self, key,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val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):</a:t>
            </a:r>
          </a:p>
          <a:p>
            <a:pPr marL="0" indent="0">
              <a:buNone/>
            </a:pP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    if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len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(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self.cache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) &gt;=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self.cap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       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self.cache.popitem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(last=False)</a:t>
            </a:r>
          </a:p>
          <a:p>
            <a:pPr marL="0" indent="0">
              <a:buNone/>
            </a:pP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   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self.cache</a:t>
            </a:r>
            <a:r>
              <a:rPr lang="en-GB" sz="12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[key] = </a:t>
            </a:r>
            <a:r>
              <a:rPr lang="en-GB" sz="12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val</a:t>
            </a:r>
            <a:endParaRPr lang="en-GB" sz="12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390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80" y="1260706"/>
            <a:ext cx="3444955" cy="5356662"/>
          </a:xfrm>
          <a:prstGeom prst="rect">
            <a:avLst/>
          </a:prstGeom>
        </p:spPr>
      </p:pic>
      <p:pic>
        <p:nvPicPr>
          <p:cNvPr id="6" name="Картина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541" y="153811"/>
            <a:ext cx="4990405" cy="5258899"/>
          </a:xfrm>
          <a:prstGeom prst="rect">
            <a:avLst/>
          </a:prstGeom>
        </p:spPr>
      </p:pic>
      <p:pic>
        <p:nvPicPr>
          <p:cNvPr id="7" name="Картина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791" y="1608221"/>
            <a:ext cx="5309209" cy="5137278"/>
          </a:xfrm>
          <a:prstGeom prst="rect">
            <a:avLst/>
          </a:prstGeom>
        </p:spPr>
      </p:pic>
      <p:sp>
        <p:nvSpPr>
          <p:cNvPr id="8" name="Правоъгълник 7"/>
          <p:cNvSpPr/>
          <p:nvPr/>
        </p:nvSpPr>
        <p:spPr>
          <a:xfrm>
            <a:off x="478794" y="312639"/>
            <a:ext cx="45207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Симулатор</a:t>
            </a:r>
            <a:r>
              <a:rPr lang="ru-RU" b="1" dirty="0" smtClean="0"/>
              <a:t> на </a:t>
            </a:r>
            <a:r>
              <a:rPr lang="ru-RU" b="1" dirty="0" err="1" smtClean="0"/>
              <a:t>Йерархия</a:t>
            </a:r>
            <a:r>
              <a:rPr lang="ru-RU" b="1" dirty="0" smtClean="0"/>
              <a:t> </a:t>
            </a:r>
          </a:p>
          <a:p>
            <a:r>
              <a:rPr lang="ru-RU" b="1" dirty="0" smtClean="0"/>
              <a:t>на </a:t>
            </a:r>
            <a:r>
              <a:rPr lang="ru-RU" b="1" dirty="0" err="1" smtClean="0"/>
              <a:t>Паметта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82802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529460" y="322608"/>
            <a:ext cx="8534400" cy="1507067"/>
          </a:xfrm>
        </p:spPr>
        <p:txBody>
          <a:bodyPr/>
          <a:lstStyle/>
          <a:p>
            <a:r>
              <a:rPr lang="ru-RU" dirty="0" err="1"/>
              <a:t>Симулатор</a:t>
            </a:r>
            <a:r>
              <a:rPr lang="ru-RU" dirty="0"/>
              <a:t> на </a:t>
            </a:r>
            <a:r>
              <a:rPr lang="ru-RU" dirty="0" err="1"/>
              <a:t>Йерархия</a:t>
            </a:r>
            <a:r>
              <a:rPr lang="ru-RU" dirty="0"/>
              <a:t> на </a:t>
            </a:r>
            <a:r>
              <a:rPr lang="ru-RU" dirty="0" err="1"/>
              <a:t>Паметта</a:t>
            </a:r>
            <a:endParaRPr lang="en-GB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589618" y="2065283"/>
            <a:ext cx="8534400" cy="3615267"/>
          </a:xfrm>
        </p:spPr>
        <p:txBody>
          <a:bodyPr>
            <a:normAutofit/>
          </a:bodyPr>
          <a:lstStyle/>
          <a:p>
            <a:r>
              <a:rPr lang="ru-RU" sz="1800" dirty="0" err="1"/>
              <a:t>Този</a:t>
            </a:r>
            <a:r>
              <a:rPr lang="ru-RU" sz="1800" dirty="0"/>
              <a:t> </a:t>
            </a:r>
            <a:r>
              <a:rPr lang="ru-RU" sz="1800" dirty="0" err="1"/>
              <a:t>Python</a:t>
            </a:r>
            <a:r>
              <a:rPr lang="ru-RU" sz="1800" dirty="0"/>
              <a:t> код </a:t>
            </a:r>
            <a:r>
              <a:rPr lang="ru-RU" sz="1800" dirty="0" err="1"/>
              <a:t>представлява</a:t>
            </a:r>
            <a:r>
              <a:rPr lang="ru-RU" sz="1800" dirty="0"/>
              <a:t> </a:t>
            </a:r>
            <a:r>
              <a:rPr lang="ru-RU" sz="1800" dirty="0" err="1"/>
              <a:t>симулатор</a:t>
            </a:r>
            <a:r>
              <a:rPr lang="ru-RU" sz="1800" dirty="0"/>
              <a:t> на </a:t>
            </a:r>
            <a:r>
              <a:rPr lang="ru-RU" sz="1800" dirty="0" err="1"/>
              <a:t>ключови</a:t>
            </a:r>
            <a:r>
              <a:rPr lang="ru-RU" sz="1800" dirty="0"/>
              <a:t> </a:t>
            </a:r>
            <a:r>
              <a:rPr lang="ru-RU" sz="1800" dirty="0" err="1"/>
              <a:t>компоненти</a:t>
            </a:r>
            <a:r>
              <a:rPr lang="ru-RU" sz="1800" dirty="0"/>
              <a:t> от </a:t>
            </a:r>
            <a:r>
              <a:rPr lang="ru-RU" sz="1800" b="1" dirty="0" err="1"/>
              <a:t>йерархията</a:t>
            </a:r>
            <a:r>
              <a:rPr lang="ru-RU" sz="1800" b="1" dirty="0"/>
              <a:t> на </a:t>
            </a:r>
            <a:r>
              <a:rPr lang="ru-RU" sz="1800" b="1" dirty="0" err="1"/>
              <a:t>паметта</a:t>
            </a:r>
            <a:r>
              <a:rPr lang="ru-RU" sz="1800" dirty="0"/>
              <a:t> в </a:t>
            </a:r>
            <a:r>
              <a:rPr lang="ru-RU" sz="1800" dirty="0" err="1"/>
              <a:t>една</a:t>
            </a:r>
            <a:r>
              <a:rPr lang="ru-RU" sz="1800" dirty="0"/>
              <a:t> </a:t>
            </a:r>
            <a:r>
              <a:rPr lang="ru-RU" sz="1800" dirty="0" err="1"/>
              <a:t>операционна</a:t>
            </a:r>
            <a:r>
              <a:rPr lang="ru-RU" sz="1800" dirty="0"/>
              <a:t> система и </a:t>
            </a:r>
            <a:r>
              <a:rPr lang="ru-RU" sz="1800" dirty="0" err="1"/>
              <a:t>компютърна</a:t>
            </a:r>
            <a:r>
              <a:rPr lang="ru-RU" sz="1800" dirty="0"/>
              <a:t> архитектура, а именно: </a:t>
            </a:r>
            <a:r>
              <a:rPr lang="ru-RU" sz="1800" b="1" dirty="0"/>
              <a:t>Таблица на </a:t>
            </a:r>
            <a:r>
              <a:rPr lang="ru-RU" sz="1800" b="1" dirty="0" err="1"/>
              <a:t>Страници</a:t>
            </a:r>
            <a:r>
              <a:rPr lang="ru-RU" sz="1800" b="1" dirty="0"/>
              <a:t> (</a:t>
            </a:r>
            <a:r>
              <a:rPr lang="ru-RU" sz="1800" b="1" dirty="0" err="1"/>
              <a:t>Page</a:t>
            </a:r>
            <a:r>
              <a:rPr lang="ru-RU" sz="1800" b="1" dirty="0"/>
              <a:t> </a:t>
            </a:r>
            <a:r>
              <a:rPr lang="ru-RU" sz="1800" b="1" dirty="0" err="1"/>
              <a:t>Table</a:t>
            </a:r>
            <a:r>
              <a:rPr lang="ru-RU" sz="1800" b="1" dirty="0"/>
              <a:t>)</a:t>
            </a:r>
            <a:r>
              <a:rPr lang="ru-RU" sz="1800" dirty="0"/>
              <a:t>, </a:t>
            </a:r>
            <a:r>
              <a:rPr lang="ru-RU" sz="1800" b="1" dirty="0"/>
              <a:t>Кеш с </a:t>
            </a:r>
            <a:r>
              <a:rPr lang="ru-RU" sz="1800" b="1" dirty="0" err="1"/>
              <a:t>Множествена</a:t>
            </a:r>
            <a:r>
              <a:rPr lang="ru-RU" sz="1800" b="1" dirty="0"/>
              <a:t> </a:t>
            </a:r>
            <a:r>
              <a:rPr lang="ru-RU" sz="1800" b="1" dirty="0" err="1"/>
              <a:t>Асоциативност</a:t>
            </a:r>
            <a:r>
              <a:rPr lang="ru-RU" sz="1800" b="1" dirty="0"/>
              <a:t> (</a:t>
            </a:r>
            <a:r>
              <a:rPr lang="ru-RU" sz="1800" b="1" dirty="0" err="1"/>
              <a:t>Set-Associative</a:t>
            </a:r>
            <a:r>
              <a:rPr lang="ru-RU" sz="1800" b="1" dirty="0"/>
              <a:t> </a:t>
            </a:r>
            <a:r>
              <a:rPr lang="ru-RU" sz="1800" b="1" dirty="0" err="1"/>
              <a:t>Cache</a:t>
            </a:r>
            <a:r>
              <a:rPr lang="ru-RU" sz="1800" b="1" dirty="0"/>
              <a:t>)</a:t>
            </a:r>
            <a:r>
              <a:rPr lang="ru-RU" sz="1800" dirty="0"/>
              <a:t> и </a:t>
            </a:r>
            <a:r>
              <a:rPr lang="ru-RU" sz="1800" b="1" dirty="0"/>
              <a:t>Буфер за </a:t>
            </a:r>
            <a:r>
              <a:rPr lang="ru-RU" sz="1800" b="1" dirty="0" err="1"/>
              <a:t>Превод</a:t>
            </a:r>
            <a:r>
              <a:rPr lang="ru-RU" sz="1800" b="1" dirty="0"/>
              <a:t> на </a:t>
            </a:r>
            <a:r>
              <a:rPr lang="ru-RU" sz="1800" b="1" dirty="0" err="1"/>
              <a:t>Адреси</a:t>
            </a:r>
            <a:r>
              <a:rPr lang="ru-RU" sz="1800" b="1" dirty="0"/>
              <a:t> (TLB - </a:t>
            </a:r>
            <a:r>
              <a:rPr lang="ru-RU" sz="1800" b="1" dirty="0" err="1"/>
              <a:t>Translation</a:t>
            </a:r>
            <a:r>
              <a:rPr lang="ru-RU" sz="1800" b="1" dirty="0"/>
              <a:t> </a:t>
            </a:r>
            <a:r>
              <a:rPr lang="ru-RU" sz="1800" b="1" dirty="0" err="1"/>
              <a:t>Lookaside</a:t>
            </a:r>
            <a:r>
              <a:rPr lang="ru-RU" sz="1800" b="1" dirty="0"/>
              <a:t> </a:t>
            </a:r>
            <a:r>
              <a:rPr lang="ru-RU" sz="1800" b="1" dirty="0" err="1"/>
              <a:t>Buffer</a:t>
            </a:r>
            <a:r>
              <a:rPr lang="ru-RU" sz="1800" b="1" dirty="0"/>
              <a:t>)</a:t>
            </a:r>
            <a:r>
              <a:rPr lang="ru-RU" sz="1800" dirty="0"/>
              <a:t>.</a:t>
            </a:r>
          </a:p>
          <a:p>
            <a:r>
              <a:rPr lang="ru-RU" sz="1800" dirty="0" err="1"/>
              <a:t>Основната</a:t>
            </a:r>
            <a:r>
              <a:rPr lang="ru-RU" sz="1800" dirty="0"/>
              <a:t> </a:t>
            </a:r>
            <a:r>
              <a:rPr lang="ru-RU" sz="1800" dirty="0" err="1"/>
              <a:t>му</a:t>
            </a:r>
            <a:r>
              <a:rPr lang="ru-RU" sz="1800" dirty="0"/>
              <a:t> функция е да </a:t>
            </a:r>
            <a:r>
              <a:rPr lang="ru-RU" sz="1800" dirty="0" err="1"/>
              <a:t>симулира</a:t>
            </a:r>
            <a:r>
              <a:rPr lang="ru-RU" sz="1800" dirty="0"/>
              <a:t> </a:t>
            </a:r>
            <a:r>
              <a:rPr lang="ru-RU" sz="1800" dirty="0" err="1"/>
              <a:t>достъпа</a:t>
            </a:r>
            <a:r>
              <a:rPr lang="ru-RU" sz="1800" dirty="0"/>
              <a:t> до </a:t>
            </a:r>
            <a:r>
              <a:rPr lang="ru-RU" sz="1800" dirty="0" err="1"/>
              <a:t>паметта</a:t>
            </a:r>
            <a:r>
              <a:rPr lang="ru-RU" sz="1800" dirty="0"/>
              <a:t>, </a:t>
            </a:r>
            <a:r>
              <a:rPr lang="ru-RU" sz="1800" dirty="0" err="1"/>
              <a:t>базиран</a:t>
            </a:r>
            <a:r>
              <a:rPr lang="ru-RU" sz="1800" dirty="0"/>
              <a:t> на </a:t>
            </a:r>
            <a:r>
              <a:rPr lang="ru-RU" sz="1800" dirty="0" err="1"/>
              <a:t>поредица</a:t>
            </a:r>
            <a:r>
              <a:rPr lang="ru-RU" sz="1800" dirty="0"/>
              <a:t> от </a:t>
            </a:r>
            <a:r>
              <a:rPr lang="ru-RU" sz="1800" dirty="0" err="1"/>
              <a:t>виртуални</a:t>
            </a:r>
            <a:r>
              <a:rPr lang="ru-RU" sz="1800" dirty="0"/>
              <a:t> </a:t>
            </a:r>
            <a:r>
              <a:rPr lang="ru-RU" sz="1800" dirty="0" err="1"/>
              <a:t>адреси</a:t>
            </a:r>
            <a:r>
              <a:rPr lang="ru-RU" sz="1800" dirty="0"/>
              <a:t> (</a:t>
            </a:r>
            <a:r>
              <a:rPr lang="ru-RU" sz="1800" dirty="0" err="1"/>
              <a:t>tracefile</a:t>
            </a:r>
            <a:r>
              <a:rPr lang="ru-RU" sz="1800" dirty="0"/>
              <a:t>), и да </a:t>
            </a:r>
            <a:r>
              <a:rPr lang="ru-RU" sz="1800" dirty="0" err="1"/>
              <a:t>изчисли</a:t>
            </a:r>
            <a:r>
              <a:rPr lang="ru-RU" sz="1800" dirty="0"/>
              <a:t> </a:t>
            </a:r>
            <a:r>
              <a:rPr lang="ru-RU" sz="1800" dirty="0" err="1"/>
              <a:t>свързаните</a:t>
            </a:r>
            <a:r>
              <a:rPr lang="ru-RU" sz="1800" dirty="0"/>
              <a:t> статистически </a:t>
            </a:r>
            <a:r>
              <a:rPr lang="ru-RU" sz="1800" dirty="0" err="1"/>
              <a:t>данни</a:t>
            </a:r>
            <a:r>
              <a:rPr lang="ru-RU" sz="1800" dirty="0"/>
              <a:t> </a:t>
            </a:r>
            <a:r>
              <a:rPr lang="ru-RU" sz="1800" dirty="0" err="1"/>
              <a:t>като</a:t>
            </a:r>
            <a:r>
              <a:rPr lang="ru-RU" sz="1800" dirty="0"/>
              <a:t> </a:t>
            </a:r>
            <a:r>
              <a:rPr lang="ru-RU" sz="1800" dirty="0" err="1"/>
              <a:t>брой</a:t>
            </a:r>
            <a:r>
              <a:rPr lang="ru-RU" sz="1800" dirty="0"/>
              <a:t> </a:t>
            </a:r>
            <a:r>
              <a:rPr lang="ru-RU" sz="1800" dirty="0" err="1"/>
              <a:t>попадения</a:t>
            </a:r>
            <a:r>
              <a:rPr lang="ru-RU" sz="1800" dirty="0"/>
              <a:t>/пропуски в TLB, грешки при </a:t>
            </a:r>
            <a:r>
              <a:rPr lang="ru-RU" sz="1800" dirty="0" err="1"/>
              <a:t>странициране</a:t>
            </a:r>
            <a:r>
              <a:rPr lang="ru-RU" sz="1800" dirty="0"/>
              <a:t> (</a:t>
            </a:r>
            <a:r>
              <a:rPr lang="ru-RU" sz="1800" dirty="0" err="1"/>
              <a:t>Page</a:t>
            </a:r>
            <a:r>
              <a:rPr lang="ru-RU" sz="1800" dirty="0"/>
              <a:t> </a:t>
            </a:r>
            <a:r>
              <a:rPr lang="ru-RU" sz="1800" dirty="0" err="1"/>
              <a:t>Faults</a:t>
            </a:r>
            <a:r>
              <a:rPr lang="ru-RU" sz="1800" dirty="0"/>
              <a:t>) и </a:t>
            </a:r>
            <a:r>
              <a:rPr lang="ru-RU" sz="1800" dirty="0" err="1"/>
              <a:t>попадения</a:t>
            </a:r>
            <a:r>
              <a:rPr lang="ru-RU" sz="1800" dirty="0"/>
              <a:t>/пропуски в </a:t>
            </a:r>
            <a:r>
              <a:rPr lang="ru-RU" sz="1800" dirty="0" err="1"/>
              <a:t>кеша</a:t>
            </a:r>
            <a:r>
              <a:rPr lang="ru-RU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597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71377" y="49834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ru-RU" smtClean="0"/>
              <a:t>Етап на Изпълнение: Автоматизирано Трасиране на Паметта</a:t>
            </a:r>
            <a:endParaRPr lang="en-GB" dirty="0"/>
          </a:p>
        </p:txBody>
      </p:sp>
      <p:pic>
        <p:nvPicPr>
          <p:cNvPr id="4" name="Контейнер за съдържание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1209" y="1556901"/>
            <a:ext cx="4468559" cy="4951312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7520" y="2327980"/>
            <a:ext cx="5461713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Обобщение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Скрипта</a:t>
            </a:r>
            <a:endParaRPr kumimoji="0" lang="bg-BG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Този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скрипт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е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експерименталният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контролер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симулацията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Основната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му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цел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е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автоматизира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събирането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стартира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симулатора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sim.py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многократно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Итерация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Сценарии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Използва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цикъл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обработи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всички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входни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файлове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trace_e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*_s*.trace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bg-BG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Динамично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Извличане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Променливи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името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файла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извлича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ключовите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променливи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експеримента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Размер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Масива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elems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Стъпка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Достъп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stride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bg-BG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Контролирани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Параметри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Изпълнява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симулатора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поддържа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постоянни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всички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хардуерни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настройки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напр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Кеш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32KB, TLB 64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записа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  <a:endParaRPr lang="bg-BG" altLang="en-US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Резултат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Всички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статистически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различните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комбинации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записват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един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общ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CSV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файл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sim_results.csv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който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служи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като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суров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източник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анализа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визуализацията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646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онтейнер за съдържание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867" y="344899"/>
            <a:ext cx="4220581" cy="4895137"/>
          </a:xfrm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000" y="1085878"/>
            <a:ext cx="3928450" cy="5387807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96613" y="5439774"/>
            <a:ext cx="66053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Това е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автоматизираното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изпълнение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симулацията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което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скриптът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обработва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последователно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всички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трасировки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извличайки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динамично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параметрите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Elements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и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Stride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всеки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експеримент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След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като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всички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сценарии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изпълнени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потвърждава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че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резултатите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успешно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записани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общия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CSV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файл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анализ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34599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онтейнер за съдържание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704" y="2286511"/>
            <a:ext cx="8534400" cy="2904376"/>
          </a:xfr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379621" y="836851"/>
            <a:ext cx="823361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ова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е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крайният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изходен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файл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симулацията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sim_results.csv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който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събира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статистиката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от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всички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експерименти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Всеки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ред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представлява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един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уникален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сценарий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комбинирайки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входните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параметри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Stride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Elements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с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измерената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производителност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(Cache Hits, Cache Misses, TLB Hits, Page Faults).</a:t>
            </a:r>
          </a:p>
        </p:txBody>
      </p:sp>
    </p:spTree>
    <p:extLst>
      <p:ext uri="{BB962C8B-B14F-4D97-AF65-F5344CB8AC3E}">
        <p14:creationId xmlns:p14="http://schemas.microsoft.com/office/powerpoint/2010/main" val="264544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589618" y="17808"/>
            <a:ext cx="8534400" cy="1507067"/>
          </a:xfrm>
        </p:spPr>
        <p:txBody>
          <a:bodyPr/>
          <a:lstStyle/>
          <a:p>
            <a:r>
              <a:rPr lang="bg-BG" dirty="0" smtClean="0"/>
              <a:t>Графика</a:t>
            </a:r>
            <a:endParaRPr lang="en-GB" dirty="0"/>
          </a:p>
        </p:txBody>
      </p:sp>
      <p:pic>
        <p:nvPicPr>
          <p:cNvPr id="4" name="Контейнер за съдържание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7129" y="543967"/>
            <a:ext cx="3605704" cy="5190740"/>
          </a:xfrm>
          <a:prstGeom prst="rect">
            <a:avLst/>
          </a:prstGeom>
        </p:spPr>
      </p:pic>
      <p:pic>
        <p:nvPicPr>
          <p:cNvPr id="5" name="Картина 4" descr="\\wsl.localhost\Ubuntu\home\stefan\project\results\plots\sim_miss_rate.png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4" t="5816" r="74" b="2745"/>
          <a:stretch/>
        </p:blipFill>
        <p:spPr bwMode="auto">
          <a:xfrm>
            <a:off x="646453" y="1482975"/>
            <a:ext cx="5223510" cy="285940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Стрелка надясно 7"/>
          <p:cNvSpPr/>
          <p:nvPr/>
        </p:nvSpPr>
        <p:spPr>
          <a:xfrm>
            <a:off x="6124903" y="2912678"/>
            <a:ext cx="733097" cy="165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297054" y="4466019"/>
            <a:ext cx="604857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Графиката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записва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изображение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във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файл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results/plots/sim_miss_rate.png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Картина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23" y="4936553"/>
            <a:ext cx="4544501" cy="11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84212" y="21749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Резултати</a:t>
            </a:r>
            <a:r>
              <a:rPr lang="ru-RU" dirty="0"/>
              <a:t> от </a:t>
            </a:r>
            <a:r>
              <a:rPr lang="ru-RU" dirty="0" err="1"/>
              <a:t>Симулацията</a:t>
            </a:r>
            <a:r>
              <a:rPr lang="ru-RU" dirty="0"/>
              <a:t>: Влияние на </a:t>
            </a:r>
            <a:r>
              <a:rPr lang="ru-RU" dirty="0" err="1"/>
              <a:t>Стъпката</a:t>
            </a:r>
            <a:r>
              <a:rPr lang="ru-RU" dirty="0"/>
              <a:t> (</a:t>
            </a:r>
            <a:r>
              <a:rPr lang="ru-RU" dirty="0" err="1"/>
              <a:t>Stride</a:t>
            </a:r>
            <a:r>
              <a:rPr lang="ru-RU" dirty="0"/>
              <a:t>) </a:t>
            </a:r>
            <a:r>
              <a:rPr lang="ru-RU" dirty="0" err="1"/>
              <a:t>върху</a:t>
            </a:r>
            <a:r>
              <a:rPr lang="ru-RU" dirty="0"/>
              <a:t> Кеша</a:t>
            </a:r>
            <a:endParaRPr lang="en-GB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550205" y="1528816"/>
            <a:ext cx="8534400" cy="36152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err="1"/>
              <a:t>Експериментът</a:t>
            </a:r>
            <a:r>
              <a:rPr lang="ru-RU" dirty="0"/>
              <a:t> </a:t>
            </a:r>
            <a:r>
              <a:rPr lang="ru-RU" dirty="0" err="1"/>
              <a:t>следва</a:t>
            </a:r>
            <a:r>
              <a:rPr lang="ru-RU" dirty="0"/>
              <a:t> строго </a:t>
            </a:r>
            <a:r>
              <a:rPr lang="ru-RU" dirty="0" err="1"/>
              <a:t>автоматизирана</a:t>
            </a:r>
            <a:r>
              <a:rPr lang="ru-RU" dirty="0"/>
              <a:t> верига, </a:t>
            </a:r>
            <a:r>
              <a:rPr lang="ru-RU" dirty="0" err="1"/>
              <a:t>която</a:t>
            </a:r>
            <a:r>
              <a:rPr lang="ru-RU" dirty="0"/>
              <a:t> </a:t>
            </a:r>
            <a:r>
              <a:rPr lang="ru-RU" dirty="0" err="1"/>
              <a:t>гарантира</a:t>
            </a:r>
            <a:r>
              <a:rPr lang="ru-RU" dirty="0"/>
              <a:t> </a:t>
            </a:r>
            <a:r>
              <a:rPr lang="ru-RU" dirty="0" err="1"/>
              <a:t>надеждни</a:t>
            </a:r>
            <a:r>
              <a:rPr lang="ru-RU" dirty="0"/>
              <a:t> и </a:t>
            </a:r>
            <a:r>
              <a:rPr lang="ru-RU" dirty="0" err="1"/>
              <a:t>възпроизводими</a:t>
            </a:r>
            <a:r>
              <a:rPr lang="ru-RU" dirty="0"/>
              <a:t> </a:t>
            </a:r>
            <a:r>
              <a:rPr lang="ru-RU" dirty="0" err="1"/>
              <a:t>резултати</a:t>
            </a:r>
            <a:r>
              <a:rPr lang="ru-RU" dirty="0" smtClean="0"/>
              <a:t>:</a:t>
            </a:r>
          </a:p>
          <a:p>
            <a:r>
              <a:rPr lang="ru-RU" dirty="0" smtClean="0"/>
              <a:t>Генератор </a:t>
            </a:r>
            <a:r>
              <a:rPr lang="ru-RU" dirty="0"/>
              <a:t>на </a:t>
            </a:r>
            <a:r>
              <a:rPr lang="ru-RU" dirty="0" err="1"/>
              <a:t>Входни</a:t>
            </a:r>
            <a:r>
              <a:rPr lang="ru-RU" dirty="0"/>
              <a:t> Данни (gen_traces.py): </a:t>
            </a:r>
            <a:r>
              <a:rPr lang="ru-RU" dirty="0" err="1"/>
              <a:t>Създава</a:t>
            </a:r>
            <a:r>
              <a:rPr lang="ru-RU" dirty="0"/>
              <a:t> </a:t>
            </a:r>
            <a:r>
              <a:rPr lang="ru-RU" dirty="0" err="1"/>
              <a:t>файловете</a:t>
            </a:r>
            <a:r>
              <a:rPr lang="ru-RU" dirty="0"/>
              <a:t> с </a:t>
            </a:r>
            <a:r>
              <a:rPr lang="ru-RU" dirty="0" err="1"/>
              <a:t>трасиране</a:t>
            </a:r>
            <a:r>
              <a:rPr lang="ru-RU" dirty="0"/>
              <a:t>, </a:t>
            </a:r>
            <a:r>
              <a:rPr lang="ru-RU" dirty="0" err="1"/>
              <a:t>които</a:t>
            </a:r>
            <a:r>
              <a:rPr lang="ru-RU" dirty="0"/>
              <a:t> </a:t>
            </a:r>
            <a:r>
              <a:rPr lang="ru-RU" dirty="0" err="1"/>
              <a:t>съдържат</a:t>
            </a:r>
            <a:r>
              <a:rPr lang="ru-RU" dirty="0"/>
              <a:t> </a:t>
            </a:r>
            <a:r>
              <a:rPr lang="ru-RU" dirty="0" err="1"/>
              <a:t>последователности</a:t>
            </a:r>
            <a:r>
              <a:rPr lang="ru-RU" dirty="0"/>
              <a:t> от </a:t>
            </a:r>
            <a:r>
              <a:rPr lang="ru-RU" dirty="0" err="1"/>
              <a:t>виртуални</a:t>
            </a:r>
            <a:r>
              <a:rPr lang="ru-RU" dirty="0"/>
              <a:t> </a:t>
            </a:r>
            <a:r>
              <a:rPr lang="ru-RU" dirty="0" err="1"/>
              <a:t>адреси</a:t>
            </a:r>
            <a:r>
              <a:rPr lang="ru-RU" dirty="0"/>
              <a:t>, </a:t>
            </a:r>
            <a:r>
              <a:rPr lang="ru-RU" dirty="0" err="1"/>
              <a:t>дефинирани</a:t>
            </a:r>
            <a:r>
              <a:rPr lang="ru-RU" dirty="0"/>
              <a:t> от </a:t>
            </a:r>
            <a:r>
              <a:rPr lang="ru-RU" dirty="0" err="1"/>
              <a:t>конкретни</a:t>
            </a:r>
            <a:r>
              <a:rPr lang="ru-RU" dirty="0"/>
              <a:t> комбинации на </a:t>
            </a:r>
            <a:r>
              <a:rPr lang="ru-RU" dirty="0" err="1"/>
              <a:t>Elements</a:t>
            </a:r>
            <a:r>
              <a:rPr lang="ru-RU" dirty="0"/>
              <a:t> и </a:t>
            </a:r>
            <a:r>
              <a:rPr lang="ru-RU" dirty="0" err="1"/>
              <a:t>Stride</a:t>
            </a:r>
            <a:r>
              <a:rPr lang="ru-RU" dirty="0" smtClean="0"/>
              <a:t>.</a:t>
            </a:r>
          </a:p>
          <a:p>
            <a:r>
              <a:rPr lang="ru-RU" dirty="0" err="1" smtClean="0"/>
              <a:t>Симулатор</a:t>
            </a:r>
            <a:r>
              <a:rPr lang="ru-RU" dirty="0" smtClean="0"/>
              <a:t> </a:t>
            </a:r>
            <a:r>
              <a:rPr lang="ru-RU" dirty="0"/>
              <a:t>(sim.py): </a:t>
            </a:r>
            <a:r>
              <a:rPr lang="ru-RU" dirty="0" err="1"/>
              <a:t>Изпълнява</a:t>
            </a:r>
            <a:r>
              <a:rPr lang="ru-RU" dirty="0"/>
              <a:t> </a:t>
            </a:r>
            <a:r>
              <a:rPr lang="ru-RU" dirty="0" err="1"/>
              <a:t>симулацията</a:t>
            </a:r>
            <a:r>
              <a:rPr lang="ru-RU" dirty="0"/>
              <a:t> на </a:t>
            </a:r>
            <a:r>
              <a:rPr lang="ru-RU" dirty="0" err="1"/>
              <a:t>йерархията</a:t>
            </a:r>
            <a:r>
              <a:rPr lang="ru-RU" dirty="0"/>
              <a:t> на </a:t>
            </a:r>
            <a:r>
              <a:rPr lang="ru-RU" dirty="0" err="1"/>
              <a:t>паметта</a:t>
            </a:r>
            <a:r>
              <a:rPr lang="ru-RU" dirty="0"/>
              <a:t> (TLB,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Table</a:t>
            </a:r>
            <a:r>
              <a:rPr lang="ru-RU" dirty="0"/>
              <a:t>, Кеш) за всяка </a:t>
            </a:r>
            <a:r>
              <a:rPr lang="ru-RU" dirty="0" err="1"/>
              <a:t>трасировка</a:t>
            </a:r>
            <a:r>
              <a:rPr lang="ru-RU" dirty="0"/>
              <a:t>, </a:t>
            </a:r>
            <a:r>
              <a:rPr lang="ru-RU" dirty="0" err="1"/>
              <a:t>записвайки</a:t>
            </a:r>
            <a:r>
              <a:rPr lang="ru-RU" dirty="0"/>
              <a:t> </a:t>
            </a:r>
            <a:r>
              <a:rPr lang="ru-RU" dirty="0" err="1"/>
              <a:t>суровата</a:t>
            </a:r>
            <a:r>
              <a:rPr lang="ru-RU" dirty="0"/>
              <a:t> статистика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Скрипт </a:t>
            </a:r>
            <a:r>
              <a:rPr lang="ru-RU" dirty="0"/>
              <a:t>за </a:t>
            </a:r>
            <a:r>
              <a:rPr lang="ru-RU" dirty="0" err="1"/>
              <a:t>Batch</a:t>
            </a:r>
            <a:r>
              <a:rPr lang="ru-RU" dirty="0"/>
              <a:t> </a:t>
            </a:r>
            <a:r>
              <a:rPr lang="ru-RU" dirty="0" err="1"/>
              <a:t>Изпълнение</a:t>
            </a:r>
            <a:r>
              <a:rPr lang="ru-RU" dirty="0"/>
              <a:t> (</a:t>
            </a:r>
            <a:r>
              <a:rPr lang="ru-RU" dirty="0" err="1"/>
              <a:t>Bash</a:t>
            </a:r>
            <a:r>
              <a:rPr lang="ru-RU" dirty="0"/>
              <a:t>/</a:t>
            </a:r>
            <a:r>
              <a:rPr lang="ru-RU" dirty="0" err="1"/>
              <a:t>Shell</a:t>
            </a:r>
            <a:r>
              <a:rPr lang="ru-RU" dirty="0"/>
              <a:t>): </a:t>
            </a:r>
            <a:r>
              <a:rPr lang="ru-RU" dirty="0" err="1"/>
              <a:t>Автоматизира</a:t>
            </a:r>
            <a:r>
              <a:rPr lang="ru-RU" dirty="0"/>
              <a:t> </a:t>
            </a:r>
            <a:r>
              <a:rPr lang="ru-RU" dirty="0" err="1"/>
              <a:t>многократното</a:t>
            </a:r>
            <a:r>
              <a:rPr lang="ru-RU" dirty="0"/>
              <a:t> </a:t>
            </a:r>
            <a:r>
              <a:rPr lang="ru-RU" dirty="0" err="1"/>
              <a:t>стартиране</a:t>
            </a:r>
            <a:r>
              <a:rPr lang="ru-RU" dirty="0"/>
              <a:t> на </a:t>
            </a:r>
            <a:r>
              <a:rPr lang="ru-RU" dirty="0" err="1"/>
              <a:t>симулатора</a:t>
            </a:r>
            <a:r>
              <a:rPr lang="ru-RU" dirty="0"/>
              <a:t>, </a:t>
            </a:r>
            <a:r>
              <a:rPr lang="ru-RU" dirty="0" err="1"/>
              <a:t>обработвайки</a:t>
            </a:r>
            <a:r>
              <a:rPr lang="ru-RU" dirty="0"/>
              <a:t> </a:t>
            </a:r>
            <a:r>
              <a:rPr lang="ru-RU" dirty="0" err="1"/>
              <a:t>всички</a:t>
            </a:r>
            <a:r>
              <a:rPr lang="ru-RU" dirty="0"/>
              <a:t> </a:t>
            </a:r>
            <a:r>
              <a:rPr lang="ru-RU" dirty="0" err="1"/>
              <a:t>трасировки</a:t>
            </a:r>
            <a:r>
              <a:rPr lang="ru-RU" dirty="0"/>
              <a:t> и </a:t>
            </a:r>
            <a:r>
              <a:rPr lang="ru-RU" dirty="0" err="1"/>
              <a:t>консолидирайки</a:t>
            </a:r>
            <a:r>
              <a:rPr lang="ru-RU" dirty="0"/>
              <a:t> </a:t>
            </a:r>
            <a:r>
              <a:rPr lang="ru-RU" dirty="0" err="1"/>
              <a:t>резултатите</a:t>
            </a:r>
            <a:r>
              <a:rPr lang="ru-RU" dirty="0"/>
              <a:t> в един CSV файл</a:t>
            </a:r>
            <a:r>
              <a:rPr lang="ru-RU" dirty="0" smtClean="0"/>
              <a:t>.</a:t>
            </a:r>
          </a:p>
          <a:p>
            <a:r>
              <a:rPr lang="ru-RU" dirty="0" smtClean="0"/>
              <a:t>Скрипт </a:t>
            </a:r>
            <a:r>
              <a:rPr lang="ru-RU" dirty="0"/>
              <a:t>за Визуализация (plot_sim.py): </a:t>
            </a:r>
            <a:r>
              <a:rPr lang="ru-RU" dirty="0" err="1"/>
              <a:t>Обработва</a:t>
            </a:r>
            <a:r>
              <a:rPr lang="ru-RU" dirty="0"/>
              <a:t> CSV </a:t>
            </a:r>
            <a:r>
              <a:rPr lang="ru-RU" dirty="0" err="1"/>
              <a:t>данните</a:t>
            </a:r>
            <a:r>
              <a:rPr lang="ru-RU" dirty="0"/>
              <a:t>, </a:t>
            </a:r>
            <a:r>
              <a:rPr lang="ru-RU" dirty="0" err="1"/>
              <a:t>изчислява</a:t>
            </a:r>
            <a:r>
              <a:rPr lang="ru-RU" dirty="0"/>
              <a:t> </a:t>
            </a:r>
            <a:r>
              <a:rPr lang="ru-RU" dirty="0" err="1"/>
              <a:t>Miss</a:t>
            </a:r>
            <a:r>
              <a:rPr lang="ru-RU" dirty="0"/>
              <a:t> </a:t>
            </a:r>
            <a:r>
              <a:rPr lang="ru-RU" dirty="0" err="1"/>
              <a:t>Rate</a:t>
            </a:r>
            <a:r>
              <a:rPr lang="ru-RU" dirty="0"/>
              <a:t> и </a:t>
            </a:r>
            <a:r>
              <a:rPr lang="ru-RU" dirty="0" err="1"/>
              <a:t>генерира</a:t>
            </a:r>
            <a:r>
              <a:rPr lang="ru-RU" dirty="0"/>
              <a:t> </a:t>
            </a:r>
            <a:r>
              <a:rPr lang="ru-RU" dirty="0" err="1"/>
              <a:t>финалната</a:t>
            </a:r>
            <a:r>
              <a:rPr lang="ru-RU" dirty="0"/>
              <a:t> графика.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4868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84212" y="21749"/>
            <a:ext cx="8534400" cy="1507067"/>
          </a:xfrm>
        </p:spPr>
        <p:txBody>
          <a:bodyPr/>
          <a:lstStyle/>
          <a:p>
            <a:r>
              <a:rPr lang="ru-RU" dirty="0"/>
              <a:t>Анализ на </a:t>
            </a:r>
            <a:r>
              <a:rPr lang="ru-RU" dirty="0" err="1"/>
              <a:t>Таблицата</a:t>
            </a:r>
            <a:r>
              <a:rPr lang="ru-RU" dirty="0"/>
              <a:t>: Влияние на </a:t>
            </a:r>
            <a:r>
              <a:rPr lang="ru-RU" dirty="0" err="1"/>
              <a:t>Стъпкат</a:t>
            </a:r>
            <a:endParaRPr lang="en-GB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84668" y="382315"/>
            <a:ext cx="8534400" cy="3615267"/>
          </a:xfrm>
        </p:spPr>
        <p:txBody>
          <a:bodyPr>
            <a:normAutofit/>
          </a:bodyPr>
          <a:lstStyle/>
          <a:p>
            <a:r>
              <a:rPr lang="ru-RU" sz="1400" dirty="0" err="1"/>
              <a:t>Тази</a:t>
            </a:r>
            <a:r>
              <a:rPr lang="ru-RU" sz="1400" dirty="0"/>
              <a:t> таблица </a:t>
            </a:r>
            <a:r>
              <a:rPr lang="ru-RU" sz="1400" dirty="0" err="1"/>
              <a:t>показва</a:t>
            </a:r>
            <a:r>
              <a:rPr lang="ru-RU" sz="1400" dirty="0"/>
              <a:t> </a:t>
            </a:r>
            <a:r>
              <a:rPr lang="ru-RU" sz="1400" dirty="0" err="1"/>
              <a:t>резултатите</a:t>
            </a:r>
            <a:r>
              <a:rPr lang="ru-RU" sz="1400" dirty="0"/>
              <a:t> от </a:t>
            </a:r>
            <a:r>
              <a:rPr lang="ru-RU" sz="1400" dirty="0" err="1"/>
              <a:t>симулацията</a:t>
            </a:r>
            <a:r>
              <a:rPr lang="ru-RU" sz="1400" dirty="0"/>
              <a:t> за един </a:t>
            </a:r>
            <a:r>
              <a:rPr lang="ru-RU" sz="1400" dirty="0" err="1"/>
              <a:t>фиксиран</a:t>
            </a:r>
            <a:r>
              <a:rPr lang="ru-RU" sz="1400" dirty="0"/>
              <a:t> размер на </a:t>
            </a:r>
            <a:r>
              <a:rPr lang="ru-RU" sz="1400" dirty="0" err="1"/>
              <a:t>масива</a:t>
            </a:r>
            <a:r>
              <a:rPr lang="ru-RU" sz="1400" dirty="0"/>
              <a:t> (вероятно 1 MB, </a:t>
            </a:r>
            <a:r>
              <a:rPr lang="ru-RU" sz="1400" dirty="0" err="1"/>
              <a:t>съответстващ</a:t>
            </a:r>
            <a:r>
              <a:rPr lang="ru-RU" sz="1400" dirty="0"/>
              <a:t> на </a:t>
            </a:r>
            <a:r>
              <a:rPr lang="ru-RU" sz="1400" dirty="0" err="1"/>
              <a:t>elems</a:t>
            </a:r>
            <a:r>
              <a:rPr lang="ru-RU" sz="1400" dirty="0"/>
              <a:t>=131072 при 8-байтов </a:t>
            </a:r>
            <a:r>
              <a:rPr lang="ru-RU" sz="1400" dirty="0" err="1"/>
              <a:t>елемент</a:t>
            </a:r>
            <a:r>
              <a:rPr lang="ru-RU" sz="1400" dirty="0"/>
              <a:t>) в </a:t>
            </a:r>
            <a:r>
              <a:rPr lang="ru-RU" sz="1400" dirty="0" err="1"/>
              <a:t>зависимост</a:t>
            </a:r>
            <a:r>
              <a:rPr lang="ru-RU" sz="1400" dirty="0"/>
              <a:t> от </a:t>
            </a:r>
            <a:r>
              <a:rPr lang="ru-RU" sz="1400" dirty="0" err="1"/>
              <a:t>Стъпката</a:t>
            </a:r>
            <a:r>
              <a:rPr lang="ru-RU" sz="1400" dirty="0"/>
              <a:t> (</a:t>
            </a:r>
            <a:r>
              <a:rPr lang="ru-RU" sz="1400" dirty="0" err="1"/>
              <a:t>Stride</a:t>
            </a:r>
            <a:r>
              <a:rPr lang="ru-RU" sz="1400" dirty="0"/>
              <a:t>):</a:t>
            </a:r>
            <a:endParaRPr lang="en-GB" sz="14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520306"/>
              </p:ext>
            </p:extLst>
          </p:nvPr>
        </p:nvGraphicFramePr>
        <p:xfrm>
          <a:off x="4427853" y="2648799"/>
          <a:ext cx="4057937" cy="348640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778559"/>
                <a:gridCol w="778559"/>
                <a:gridCol w="778559"/>
                <a:gridCol w="778559"/>
                <a:gridCol w="943701"/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 sz="800" dirty="0">
                          <a:effectLst/>
                        </a:rPr>
                        <a:t>Stride (</a:t>
                      </a:r>
                      <a:r>
                        <a:rPr lang="bg-BG" sz="800" dirty="0">
                          <a:effectLst/>
                        </a:rPr>
                        <a:t>Стъпка)</a:t>
                      </a:r>
                      <a:endParaRPr lang="bg-BG" sz="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800">
                          <a:effectLst/>
                        </a:rPr>
                        <a:t>Cache Hits</a:t>
                      </a:r>
                      <a:endParaRPr lang="en-GB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800">
                          <a:effectLst/>
                        </a:rPr>
                        <a:t>Cache Misses</a:t>
                      </a:r>
                      <a:endParaRPr lang="en-GB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800">
                          <a:effectLst/>
                        </a:rPr>
                        <a:t>Miss Rate (%)</a:t>
                      </a:r>
                      <a:endParaRPr lang="en-GB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bg-BG" sz="800">
                          <a:effectLst/>
                        </a:rPr>
                        <a:t>Заключение</a:t>
                      </a:r>
                      <a:endParaRPr lang="bg-BG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</a:tr>
              <a:tr h="1279061">
                <a:tc>
                  <a:txBody>
                    <a:bodyPr/>
                    <a:lstStyle/>
                    <a:p>
                      <a:pPr rtl="0"/>
                      <a:r>
                        <a:rPr lang="en-GB" sz="800">
                          <a:effectLst/>
                        </a:rPr>
                        <a:t>1</a:t>
                      </a:r>
                      <a:endParaRPr lang="en-GB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800" dirty="0">
                          <a:effectLst/>
                        </a:rPr>
                        <a:t>917,504</a:t>
                      </a:r>
                      <a:endParaRPr lang="en-GB" sz="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800">
                          <a:effectLst/>
                        </a:rPr>
                        <a:t>131,072</a:t>
                      </a:r>
                      <a:endParaRPr lang="en-GB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800">
                          <a:effectLst/>
                        </a:rPr>
                        <a:t>12.5%</a:t>
                      </a:r>
                      <a:endParaRPr lang="en-GB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>
                          <a:effectLst/>
                        </a:rPr>
                        <a:t>Отлично: Sequential access (стъпка 1) осигурява висока пространствена локалност, което води до висок брой попадения.</a:t>
                      </a:r>
                      <a:endParaRPr lang="ru-RU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</a:tr>
              <a:tr h="1153935">
                <a:tc>
                  <a:txBody>
                    <a:bodyPr/>
                    <a:lstStyle/>
                    <a:p>
                      <a:pPr rtl="0"/>
                      <a:r>
                        <a:rPr lang="en-GB" sz="800">
                          <a:effectLst/>
                        </a:rPr>
                        <a:t>4</a:t>
                      </a:r>
                      <a:endParaRPr lang="en-GB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800">
                          <a:effectLst/>
                        </a:rPr>
                        <a:t>131,072</a:t>
                      </a:r>
                      <a:endParaRPr lang="en-GB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800">
                          <a:effectLst/>
                        </a:rPr>
                        <a:t>131,072</a:t>
                      </a:r>
                      <a:endParaRPr lang="en-GB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800">
                          <a:effectLst/>
                        </a:rPr>
                        <a:t>50.0%</a:t>
                      </a:r>
                      <a:endParaRPr lang="en-GB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>
                          <a:effectLst/>
                        </a:rPr>
                        <a:t>Граница: Miss Rate се удвоява. Достъпът вече не се възползва максимално от заредената кеш линия.</a:t>
                      </a:r>
                      <a:endParaRPr lang="ru-RU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</a:tr>
              <a:tr h="903684">
                <a:tc>
                  <a:txBody>
                    <a:bodyPr/>
                    <a:lstStyle/>
                    <a:p>
                      <a:pPr rtl="0"/>
                      <a:r>
                        <a:rPr lang="en-GB" sz="800">
                          <a:effectLst/>
                        </a:rPr>
                        <a:t>16</a:t>
                      </a:r>
                      <a:endParaRPr lang="en-GB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800">
                          <a:effectLst/>
                        </a:rPr>
                        <a:t>0</a:t>
                      </a:r>
                      <a:endParaRPr lang="en-GB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800">
                          <a:effectLst/>
                        </a:rPr>
                        <a:t>65,536</a:t>
                      </a:r>
                      <a:endParaRPr lang="en-GB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800">
                          <a:effectLst/>
                        </a:rPr>
                        <a:t>100.0%</a:t>
                      </a:r>
                      <a:endParaRPr lang="en-GB" sz="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800" dirty="0">
                          <a:effectLst/>
                        </a:rPr>
                        <a:t>Провал: При </a:t>
                      </a:r>
                      <a:r>
                        <a:rPr lang="ru-RU" sz="800" dirty="0" err="1">
                          <a:effectLst/>
                        </a:rPr>
                        <a:t>стъпка</a:t>
                      </a:r>
                      <a:r>
                        <a:rPr lang="ru-RU" sz="800" dirty="0">
                          <a:effectLst/>
                        </a:rPr>
                        <a:t> 16 и </a:t>
                      </a:r>
                      <a:r>
                        <a:rPr lang="ru-RU" sz="800" dirty="0" err="1">
                          <a:effectLst/>
                        </a:rPr>
                        <a:t>по-голяма</a:t>
                      </a:r>
                      <a:r>
                        <a:rPr lang="ru-RU" sz="800" dirty="0">
                          <a:effectLst/>
                        </a:rPr>
                        <a:t>, </a:t>
                      </a:r>
                      <a:r>
                        <a:rPr lang="ru-RU" sz="800" dirty="0" err="1">
                          <a:effectLst/>
                        </a:rPr>
                        <a:t>Miss</a:t>
                      </a:r>
                      <a:r>
                        <a:rPr lang="ru-RU" sz="800" dirty="0">
                          <a:effectLst/>
                        </a:rPr>
                        <a:t> </a:t>
                      </a:r>
                      <a:r>
                        <a:rPr lang="ru-RU" sz="800" dirty="0" err="1">
                          <a:effectLst/>
                        </a:rPr>
                        <a:t>Rate</a:t>
                      </a:r>
                      <a:r>
                        <a:rPr lang="ru-RU" sz="800" dirty="0">
                          <a:effectLst/>
                        </a:rPr>
                        <a:t> </a:t>
                      </a:r>
                      <a:r>
                        <a:rPr lang="ru-RU" sz="800" dirty="0" err="1">
                          <a:effectLst/>
                        </a:rPr>
                        <a:t>достига</a:t>
                      </a:r>
                      <a:r>
                        <a:rPr lang="ru-RU" sz="800" dirty="0">
                          <a:effectLst/>
                        </a:rPr>
                        <a:t> 100%. Всяко </a:t>
                      </a:r>
                      <a:r>
                        <a:rPr lang="ru-RU" sz="800" dirty="0" err="1">
                          <a:effectLst/>
                        </a:rPr>
                        <a:t>четене</a:t>
                      </a:r>
                      <a:r>
                        <a:rPr lang="ru-RU" sz="800" dirty="0">
                          <a:effectLst/>
                        </a:rPr>
                        <a:t> е </a:t>
                      </a:r>
                      <a:r>
                        <a:rPr lang="ru-RU" sz="800" dirty="0" err="1">
                          <a:effectLst/>
                        </a:rPr>
                        <a:t>Cache</a:t>
                      </a:r>
                      <a:r>
                        <a:rPr lang="ru-RU" sz="800" dirty="0">
                          <a:effectLst/>
                        </a:rPr>
                        <a:t> </a:t>
                      </a:r>
                      <a:r>
                        <a:rPr lang="ru-RU" sz="800" dirty="0" err="1">
                          <a:effectLst/>
                        </a:rPr>
                        <a:t>Miss</a:t>
                      </a:r>
                      <a:r>
                        <a:rPr lang="ru-RU" sz="800" dirty="0">
                          <a:effectLst/>
                        </a:rPr>
                        <a:t>.</a:t>
                      </a:r>
                      <a:endParaRPr lang="ru-RU" sz="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0854" marR="20854" marT="13903" marB="13903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5055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84212" y="21749"/>
            <a:ext cx="8534400" cy="1507067"/>
          </a:xfrm>
        </p:spPr>
        <p:txBody>
          <a:bodyPr/>
          <a:lstStyle/>
          <a:p>
            <a:r>
              <a:rPr lang="en-GB" dirty="0"/>
              <a:t>Micro-benchmark: </a:t>
            </a:r>
            <a:r>
              <a:rPr lang="bg-BG" dirty="0"/>
              <a:t>Методология и Инструменти</a:t>
            </a:r>
            <a:endParaRPr lang="en-GB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526557" y="1978573"/>
            <a:ext cx="8534400" cy="3615267"/>
          </a:xfrm>
        </p:spPr>
        <p:txBody>
          <a:bodyPr>
            <a:normAutofit lnSpcReduction="10000"/>
          </a:bodyPr>
          <a:lstStyle/>
          <a:p>
            <a:r>
              <a:rPr lang="ru-RU" b="1" dirty="0" smtClean="0"/>
              <a:t>Цел - </a:t>
            </a:r>
            <a:r>
              <a:rPr lang="ru-RU" b="1" dirty="0" err="1" smtClean="0"/>
              <a:t>Валидиране</a:t>
            </a:r>
            <a:r>
              <a:rPr lang="ru-RU" dirty="0" smtClean="0"/>
              <a:t> </a:t>
            </a:r>
            <a:r>
              <a:rPr lang="ru-RU" dirty="0"/>
              <a:t>на </a:t>
            </a:r>
            <a:r>
              <a:rPr lang="ru-RU" dirty="0" err="1"/>
              <a:t>симулацията</a:t>
            </a:r>
            <a:r>
              <a:rPr lang="ru-RU" dirty="0"/>
              <a:t> чрез </a:t>
            </a:r>
            <a:r>
              <a:rPr lang="ru-RU" dirty="0" err="1"/>
              <a:t>измерване</a:t>
            </a:r>
            <a:r>
              <a:rPr lang="ru-RU" dirty="0"/>
              <a:t> на </a:t>
            </a:r>
            <a:r>
              <a:rPr lang="ru-RU" b="1" dirty="0" err="1"/>
              <a:t>реалната</a:t>
            </a:r>
            <a:r>
              <a:rPr lang="ru-RU" b="1" dirty="0"/>
              <a:t> </a:t>
            </a:r>
            <a:r>
              <a:rPr lang="ru-RU" b="1" dirty="0" err="1"/>
              <a:t>производителност</a:t>
            </a:r>
            <a:r>
              <a:rPr lang="ru-RU" dirty="0"/>
              <a:t> на </a:t>
            </a:r>
            <a:r>
              <a:rPr lang="ru-RU" dirty="0" err="1" smtClean="0"/>
              <a:t>хардуера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en-GB" b="1" dirty="0"/>
              <a:t>C++ </a:t>
            </a:r>
            <a:r>
              <a:rPr lang="bg-BG" b="1" dirty="0" err="1" smtClean="0"/>
              <a:t>Бенчмарк</a:t>
            </a:r>
            <a:r>
              <a:rPr lang="bg-BG" dirty="0" smtClean="0"/>
              <a:t> - </a:t>
            </a:r>
            <a:r>
              <a:rPr lang="ru-RU" b="1" dirty="0" smtClean="0"/>
              <a:t>stride_scan.cpp</a:t>
            </a:r>
            <a:r>
              <a:rPr lang="ru-RU" dirty="0" smtClean="0"/>
              <a:t> </a:t>
            </a:r>
            <a:r>
              <a:rPr lang="ru-RU" dirty="0" err="1"/>
              <a:t>реализира</a:t>
            </a:r>
            <a:r>
              <a:rPr lang="ru-RU" dirty="0"/>
              <a:t> </a:t>
            </a:r>
            <a:r>
              <a:rPr lang="ru-RU" dirty="0" err="1"/>
              <a:t>обхождане</a:t>
            </a:r>
            <a:r>
              <a:rPr lang="ru-RU" dirty="0"/>
              <a:t> на </a:t>
            </a:r>
            <a:r>
              <a:rPr lang="ru-RU" dirty="0" err="1"/>
              <a:t>голям</a:t>
            </a:r>
            <a:r>
              <a:rPr lang="ru-RU" dirty="0"/>
              <a:t> </a:t>
            </a:r>
            <a:r>
              <a:rPr lang="ru-RU" dirty="0" err="1"/>
              <a:t>масив</a:t>
            </a:r>
            <a:r>
              <a:rPr lang="ru-RU" dirty="0"/>
              <a:t> с </a:t>
            </a:r>
            <a:r>
              <a:rPr lang="ru-RU" dirty="0" err="1"/>
              <a:t>променлива</a:t>
            </a:r>
            <a:r>
              <a:rPr lang="ru-RU" dirty="0"/>
              <a:t> </a:t>
            </a:r>
            <a:r>
              <a:rPr lang="ru-RU" dirty="0" err="1"/>
              <a:t>стъпка</a:t>
            </a:r>
            <a:r>
              <a:rPr lang="ru-RU" dirty="0"/>
              <a:t>. </a:t>
            </a:r>
            <a:r>
              <a:rPr lang="ru-RU" dirty="0" err="1"/>
              <a:t>Целта</a:t>
            </a:r>
            <a:r>
              <a:rPr lang="ru-RU" dirty="0"/>
              <a:t> е да се </a:t>
            </a:r>
            <a:r>
              <a:rPr lang="ru-RU" b="1" dirty="0"/>
              <a:t>"</a:t>
            </a:r>
            <a:r>
              <a:rPr lang="ru-RU" b="1" dirty="0" err="1"/>
              <a:t>счупи</a:t>
            </a:r>
            <a:r>
              <a:rPr lang="ru-RU" b="1" dirty="0"/>
              <a:t>" </a:t>
            </a:r>
            <a:r>
              <a:rPr lang="ru-RU" b="1" dirty="0" err="1"/>
              <a:t>пространствената</a:t>
            </a:r>
            <a:r>
              <a:rPr lang="ru-RU" b="1" dirty="0"/>
              <a:t> </a:t>
            </a:r>
            <a:r>
              <a:rPr lang="ru-RU" b="1" dirty="0" err="1"/>
              <a:t>локалност</a:t>
            </a:r>
            <a:r>
              <a:rPr lang="ru-RU" dirty="0"/>
              <a:t> чрез </a:t>
            </a:r>
            <a:r>
              <a:rPr lang="ru-RU" dirty="0" err="1"/>
              <a:t>увеличаване</a:t>
            </a:r>
            <a:r>
              <a:rPr lang="ru-RU" dirty="0"/>
              <a:t> на </a:t>
            </a:r>
            <a:r>
              <a:rPr lang="ru-RU" dirty="0" err="1"/>
              <a:t>стъпката</a:t>
            </a:r>
            <a:r>
              <a:rPr lang="ru-RU" dirty="0" smtClean="0"/>
              <a:t>.</a:t>
            </a:r>
          </a:p>
          <a:p>
            <a:r>
              <a:rPr lang="bg-BG" b="1" dirty="0"/>
              <a:t>Инструменти </a:t>
            </a:r>
            <a:r>
              <a:rPr lang="bg-BG" b="1" dirty="0" smtClean="0"/>
              <a:t>- </a:t>
            </a:r>
            <a:r>
              <a:rPr lang="en-GB" dirty="0"/>
              <a:t>build-essential &amp; make: </a:t>
            </a:r>
            <a:r>
              <a:rPr lang="bg-BG" dirty="0"/>
              <a:t>За компилиране на </a:t>
            </a:r>
            <a:r>
              <a:rPr lang="en-GB" dirty="0"/>
              <a:t>C++ </a:t>
            </a:r>
            <a:r>
              <a:rPr lang="bg-BG" dirty="0"/>
              <a:t>кода с високи </a:t>
            </a:r>
            <a:r>
              <a:rPr lang="bg-BG" dirty="0" smtClean="0"/>
              <a:t>оптимизации</a:t>
            </a:r>
            <a:r>
              <a:rPr lang="en-GB" dirty="0" smtClean="0"/>
              <a:t>., </a:t>
            </a:r>
          </a:p>
          <a:p>
            <a:pPr marL="0" indent="0">
              <a:buNone/>
            </a:pPr>
            <a:r>
              <a:rPr lang="en-GB" dirty="0" err="1" smtClean="0"/>
              <a:t>valgrind</a:t>
            </a:r>
            <a:r>
              <a:rPr lang="en-GB" dirty="0" smtClean="0"/>
              <a:t> </a:t>
            </a:r>
            <a:r>
              <a:rPr lang="en-GB" dirty="0"/>
              <a:t>&amp; </a:t>
            </a:r>
            <a:r>
              <a:rPr lang="en-GB" dirty="0" err="1"/>
              <a:t>linux</a:t>
            </a:r>
            <a:r>
              <a:rPr lang="en-GB" dirty="0"/>
              <a:t>-tools-generic: </a:t>
            </a:r>
            <a:r>
              <a:rPr lang="bg-BG" dirty="0"/>
              <a:t>Инсталация на </a:t>
            </a:r>
            <a:r>
              <a:rPr lang="en-GB" dirty="0" err="1"/>
              <a:t>Cachegrind</a:t>
            </a:r>
            <a:r>
              <a:rPr lang="en-GB" dirty="0"/>
              <a:t> </a:t>
            </a:r>
            <a:r>
              <a:rPr lang="bg-BG" dirty="0"/>
              <a:t>и </a:t>
            </a:r>
            <a:r>
              <a:rPr lang="en-GB" dirty="0"/>
              <a:t>perf </a:t>
            </a:r>
            <a:r>
              <a:rPr lang="bg-BG" dirty="0"/>
              <a:t>за дълбочинен анализ</a:t>
            </a:r>
            <a:r>
              <a:rPr lang="bg-BG" dirty="0" smtClean="0"/>
              <a:t>.</a:t>
            </a:r>
            <a:endParaRPr lang="ru-RU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1345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онтейнер за съдържание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883" y="1264581"/>
            <a:ext cx="7711186" cy="4221819"/>
          </a:xfrm>
        </p:spPr>
      </p:pic>
    </p:spTree>
    <p:extLst>
      <p:ext uri="{BB962C8B-B14F-4D97-AF65-F5344CB8AC3E}">
        <p14:creationId xmlns:p14="http://schemas.microsoft.com/office/powerpoint/2010/main" val="2424912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08770" y="-53137"/>
            <a:ext cx="8534400" cy="1507067"/>
          </a:xfrm>
        </p:spPr>
        <p:txBody>
          <a:bodyPr>
            <a:normAutofit/>
          </a:bodyPr>
          <a:lstStyle/>
          <a:p>
            <a:r>
              <a:rPr lang="bg-BG" sz="3200" dirty="0"/>
              <a:t>Автоматизация на Реалните </a:t>
            </a:r>
            <a:r>
              <a:rPr lang="bg-BG" sz="3200" dirty="0" smtClean="0"/>
              <a:t>Тестове</a:t>
            </a:r>
            <a:r>
              <a:rPr lang="en-GB" sz="3200" dirty="0" smtClean="0"/>
              <a:t> </a:t>
            </a:r>
            <a:r>
              <a:rPr lang="en-GB" dirty="0" smtClean="0"/>
              <a:t>- </a:t>
            </a:r>
            <a:r>
              <a:rPr lang="ru-RU" sz="2000" dirty="0"/>
              <a:t>run_bench.sh: </a:t>
            </a:r>
            <a:r>
              <a:rPr lang="ru-RU" sz="2000" dirty="0" err="1"/>
              <a:t>Събиране</a:t>
            </a:r>
            <a:r>
              <a:rPr lang="ru-RU" sz="2000" dirty="0"/>
              <a:t> на </a:t>
            </a:r>
            <a:r>
              <a:rPr lang="ru-RU" sz="2000" dirty="0" err="1"/>
              <a:t>Реални</a:t>
            </a:r>
            <a:r>
              <a:rPr lang="ru-RU" sz="2000" dirty="0"/>
              <a:t> Данни</a:t>
            </a:r>
            <a:endParaRPr lang="en-GB" sz="20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83201" y="2122609"/>
            <a:ext cx="4533899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bg-BG" altLang="en-US" sz="1300" b="1" dirty="0" smtClean="0">
                <a:solidFill>
                  <a:schemeClr val="tx1"/>
                </a:solidFill>
                <a:latin typeface="Arial Unicode MS" panose="020B0604020202020204" pitchFamily="34" charset="-128"/>
              </a:rPr>
              <a:t>Скрипт - 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run_bench.sh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автоматизира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изпълнението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stride_scan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всички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комбинации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от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Размер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Масива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(32KB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4MB) и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Стъпка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1024). </a:t>
            </a:r>
          </a:p>
        </p:txBody>
      </p:sp>
      <p:sp>
        <p:nvSpPr>
          <p:cNvPr id="6" name="Правоъгълник 5"/>
          <p:cNvSpPr/>
          <p:nvPr/>
        </p:nvSpPr>
        <p:spPr>
          <a:xfrm>
            <a:off x="568873" y="3256242"/>
            <a:ext cx="6096000" cy="20928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300" b="1" dirty="0" err="1" smtClean="0"/>
              <a:t>Трите</a:t>
            </a:r>
            <a:r>
              <a:rPr lang="en-GB" sz="1300" b="1" dirty="0" smtClean="0"/>
              <a:t> </a:t>
            </a:r>
            <a:r>
              <a:rPr lang="en-GB" sz="1300" b="1" dirty="0" err="1" smtClean="0"/>
              <a:t>Нива</a:t>
            </a:r>
            <a:r>
              <a:rPr lang="en-GB" sz="1300" b="1" dirty="0" smtClean="0"/>
              <a:t> </a:t>
            </a:r>
            <a:r>
              <a:rPr lang="en-GB" sz="1300" b="1" dirty="0" err="1" smtClean="0"/>
              <a:t>на</a:t>
            </a:r>
            <a:r>
              <a:rPr lang="en-GB" sz="1300" b="1" dirty="0" smtClean="0"/>
              <a:t> </a:t>
            </a:r>
            <a:r>
              <a:rPr lang="en-GB" sz="1300" b="1" dirty="0" err="1" smtClean="0"/>
              <a:t>Анализ</a:t>
            </a:r>
            <a:r>
              <a:rPr lang="en-GB" sz="1300" b="1" dirty="0" smtClean="0"/>
              <a:t>	</a:t>
            </a:r>
            <a:r>
              <a:rPr lang="bg-BG" sz="1300" b="1" dirty="0" smtClean="0"/>
              <a:t>- </a:t>
            </a:r>
          </a:p>
          <a:p>
            <a:r>
              <a:rPr lang="en-GB" sz="1300" dirty="0" err="1" smtClean="0"/>
              <a:t>Скриптът</a:t>
            </a:r>
            <a:r>
              <a:rPr lang="en-GB" sz="1300" dirty="0" smtClean="0"/>
              <a:t> </a:t>
            </a:r>
            <a:r>
              <a:rPr lang="en-GB" sz="1300" dirty="0" err="1" smtClean="0"/>
              <a:t>събира</a:t>
            </a:r>
            <a:r>
              <a:rPr lang="en-GB" sz="1300" dirty="0" smtClean="0"/>
              <a:t> </a:t>
            </a:r>
            <a:r>
              <a:rPr lang="en-GB" sz="1300" dirty="0" err="1" smtClean="0"/>
              <a:t>данни</a:t>
            </a:r>
            <a:r>
              <a:rPr lang="en-GB" sz="1300" dirty="0" smtClean="0"/>
              <a:t> с </a:t>
            </a:r>
            <a:r>
              <a:rPr lang="en-GB" sz="1300" dirty="0" err="1" smtClean="0"/>
              <a:t>три</a:t>
            </a:r>
            <a:r>
              <a:rPr lang="en-GB" sz="1300" dirty="0" smtClean="0"/>
              <a:t> </a:t>
            </a:r>
            <a:r>
              <a:rPr lang="en-GB" sz="1300" dirty="0" err="1" smtClean="0"/>
              <a:t>инструмента</a:t>
            </a:r>
            <a:r>
              <a:rPr lang="en-GB" sz="1300" dirty="0" smtClean="0"/>
              <a:t>:</a:t>
            </a:r>
            <a:endParaRPr lang="bg-BG" sz="1300" dirty="0" smtClean="0"/>
          </a:p>
          <a:p>
            <a:r>
              <a:rPr lang="en-GB" sz="1300" dirty="0" smtClean="0"/>
              <a:t>	</a:t>
            </a:r>
          </a:p>
          <a:p>
            <a:pPr marL="342900" indent="-342900">
              <a:buAutoNum type="arabicPeriod"/>
            </a:pPr>
            <a:r>
              <a:rPr lang="en-GB" sz="1300" dirty="0" err="1" smtClean="0"/>
              <a:t>Директно</a:t>
            </a:r>
            <a:r>
              <a:rPr lang="en-GB" sz="1300" dirty="0" smtClean="0"/>
              <a:t> </a:t>
            </a:r>
            <a:r>
              <a:rPr lang="en-GB" sz="1300" dirty="0" err="1" smtClean="0"/>
              <a:t>Изпълнение</a:t>
            </a:r>
            <a:r>
              <a:rPr lang="en-GB" sz="1300" dirty="0" smtClean="0"/>
              <a:t>: </a:t>
            </a:r>
            <a:r>
              <a:rPr lang="en-GB" sz="1300" dirty="0" err="1" smtClean="0"/>
              <a:t>Измерва</a:t>
            </a:r>
            <a:r>
              <a:rPr lang="en-GB" sz="1300" dirty="0" smtClean="0"/>
              <a:t> </a:t>
            </a:r>
            <a:r>
              <a:rPr lang="en-GB" sz="1300" dirty="0" err="1" smtClean="0"/>
              <a:t>Средно</a:t>
            </a:r>
            <a:r>
              <a:rPr lang="en-GB" sz="1300" dirty="0" smtClean="0"/>
              <a:t> </a:t>
            </a:r>
            <a:r>
              <a:rPr lang="en-GB" sz="1300" dirty="0" err="1" smtClean="0"/>
              <a:t>Време</a:t>
            </a:r>
            <a:r>
              <a:rPr lang="en-GB" sz="1300" dirty="0" smtClean="0"/>
              <a:t> (Mean Time).	</a:t>
            </a:r>
            <a:endParaRPr lang="bg-BG" sz="1300" dirty="0" smtClean="0"/>
          </a:p>
          <a:p>
            <a:endParaRPr lang="en-GB" sz="1300" dirty="0" smtClean="0"/>
          </a:p>
          <a:p>
            <a:r>
              <a:rPr lang="en-GB" sz="1300" dirty="0" smtClean="0"/>
              <a:t>2. perf stat: </a:t>
            </a:r>
            <a:r>
              <a:rPr lang="en-GB" sz="1300" dirty="0" err="1" smtClean="0"/>
              <a:t>Използва</a:t>
            </a:r>
            <a:r>
              <a:rPr lang="en-GB" sz="1300" dirty="0" smtClean="0"/>
              <a:t> </a:t>
            </a:r>
            <a:r>
              <a:rPr lang="en-GB" sz="1300" dirty="0" err="1" smtClean="0"/>
              <a:t>хардуерни</a:t>
            </a:r>
            <a:r>
              <a:rPr lang="en-GB" sz="1300" dirty="0" smtClean="0"/>
              <a:t> </a:t>
            </a:r>
            <a:r>
              <a:rPr lang="en-GB" sz="1300" dirty="0" err="1" smtClean="0"/>
              <a:t>броячи</a:t>
            </a:r>
            <a:r>
              <a:rPr lang="en-GB" sz="1300" dirty="0" smtClean="0"/>
              <a:t> </a:t>
            </a:r>
            <a:r>
              <a:rPr lang="en-GB" sz="1300" dirty="0" err="1" smtClean="0"/>
              <a:t>за</a:t>
            </a:r>
            <a:r>
              <a:rPr lang="en-GB" sz="1300" dirty="0" smtClean="0"/>
              <a:t> </a:t>
            </a:r>
            <a:r>
              <a:rPr lang="en-GB" sz="1300" dirty="0" err="1" smtClean="0"/>
              <a:t>измерване</a:t>
            </a:r>
            <a:r>
              <a:rPr lang="en-GB" sz="1300" dirty="0" smtClean="0"/>
              <a:t> </a:t>
            </a:r>
            <a:r>
              <a:rPr lang="en-GB" sz="1300" dirty="0" err="1" smtClean="0"/>
              <a:t>на</a:t>
            </a:r>
            <a:r>
              <a:rPr lang="en-GB" sz="1300" dirty="0" smtClean="0"/>
              <a:t> </a:t>
            </a:r>
            <a:r>
              <a:rPr lang="en-GB" sz="1300" dirty="0" err="1" smtClean="0"/>
              <a:t>реални</a:t>
            </a:r>
            <a:r>
              <a:rPr lang="en-GB" sz="1300" dirty="0" smtClean="0"/>
              <a:t> cache-misses.	</a:t>
            </a:r>
            <a:endParaRPr lang="bg-BG" sz="1300" dirty="0" smtClean="0"/>
          </a:p>
          <a:p>
            <a:endParaRPr lang="en-GB" sz="1300" dirty="0" smtClean="0"/>
          </a:p>
          <a:p>
            <a:r>
              <a:rPr lang="en-GB" sz="1300" dirty="0" smtClean="0"/>
              <a:t>3. </a:t>
            </a:r>
            <a:r>
              <a:rPr lang="en-GB" sz="1300" dirty="0" err="1" smtClean="0"/>
              <a:t>Valgrind</a:t>
            </a:r>
            <a:r>
              <a:rPr lang="en-GB" sz="1300" dirty="0" smtClean="0"/>
              <a:t> (</a:t>
            </a:r>
            <a:r>
              <a:rPr lang="en-GB" sz="1300" dirty="0" err="1" smtClean="0"/>
              <a:t>Cachegrind</a:t>
            </a:r>
            <a:r>
              <a:rPr lang="en-GB" sz="1300" dirty="0" smtClean="0"/>
              <a:t>): </a:t>
            </a:r>
            <a:r>
              <a:rPr lang="en-GB" sz="1300" dirty="0" err="1" smtClean="0"/>
              <a:t>Софтуерно</a:t>
            </a:r>
            <a:r>
              <a:rPr lang="en-GB" sz="1300" dirty="0" smtClean="0"/>
              <a:t> </a:t>
            </a:r>
            <a:r>
              <a:rPr lang="en-GB" sz="1300" dirty="0" err="1" smtClean="0"/>
              <a:t>симулира</a:t>
            </a:r>
            <a:r>
              <a:rPr lang="en-GB" sz="1300" dirty="0" smtClean="0"/>
              <a:t> </a:t>
            </a:r>
            <a:r>
              <a:rPr lang="en-GB" sz="1300" dirty="0" err="1" smtClean="0"/>
              <a:t>кеша</a:t>
            </a:r>
            <a:r>
              <a:rPr lang="en-GB" sz="1300" dirty="0" smtClean="0"/>
              <a:t> </a:t>
            </a:r>
            <a:r>
              <a:rPr lang="en-GB" sz="1300" dirty="0" err="1" smtClean="0"/>
              <a:t>за</a:t>
            </a:r>
            <a:r>
              <a:rPr lang="en-GB" sz="1300" dirty="0" smtClean="0"/>
              <a:t> </a:t>
            </a:r>
            <a:r>
              <a:rPr lang="en-GB" sz="1300" dirty="0" err="1" smtClean="0"/>
              <a:t>прецизен</a:t>
            </a:r>
            <a:r>
              <a:rPr lang="en-GB" sz="1300" dirty="0" smtClean="0"/>
              <a:t> </a:t>
            </a:r>
            <a:r>
              <a:rPr lang="en-GB" sz="1300" dirty="0" err="1" smtClean="0"/>
              <a:t>брой</a:t>
            </a:r>
            <a:r>
              <a:rPr lang="en-GB" sz="1300" dirty="0" smtClean="0"/>
              <a:t> </a:t>
            </a:r>
            <a:r>
              <a:rPr lang="en-GB" sz="1300" dirty="0" err="1" smtClean="0"/>
              <a:t>пропуски</a:t>
            </a:r>
            <a:r>
              <a:rPr lang="en-GB" sz="1300" dirty="0" smtClean="0"/>
              <a:t>.</a:t>
            </a:r>
            <a:endParaRPr lang="en-GB" sz="1300" dirty="0"/>
          </a:p>
        </p:txBody>
      </p:sp>
      <p:pic>
        <p:nvPicPr>
          <p:cNvPr id="7" name="Картина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87" y="1125202"/>
            <a:ext cx="4020637" cy="548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85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онтейнер за съдържание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773" y="1004451"/>
            <a:ext cx="5846374" cy="4844271"/>
          </a:xfrm>
        </p:spPr>
      </p:pic>
    </p:spTree>
    <p:extLst>
      <p:ext uri="{BB962C8B-B14F-4D97-AF65-F5344CB8AC3E}">
        <p14:creationId xmlns:p14="http://schemas.microsoft.com/office/powerpoint/2010/main" val="333515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84212" y="21749"/>
            <a:ext cx="8534400" cy="1507067"/>
          </a:xfrm>
        </p:spPr>
        <p:txBody>
          <a:bodyPr/>
          <a:lstStyle/>
          <a:p>
            <a:r>
              <a:rPr lang="ru-RU" dirty="0" err="1"/>
              <a:t>Makefile</a:t>
            </a:r>
            <a:r>
              <a:rPr lang="ru-RU" dirty="0"/>
              <a:t> &amp; run_bench.sh: Автоматизация на Анализа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53716" y="1683270"/>
            <a:ext cx="457200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Този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код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компилира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C++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бенчмарка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максимални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оптимизации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Makefile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и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след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това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автоматизира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цялостното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събиране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реалния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хардуер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run_bench.sh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bg-BG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Makefile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Гарантира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C++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програмата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компилира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флагове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-O2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и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-march=native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да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измери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реалната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хардуерна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производителност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без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губи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време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неефективни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инструкции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  <a:endParaRPr kumimoji="0" lang="bg-BG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run_bench.sh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Изпълнява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бенчмарка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многократно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24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комбинации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Stride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и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събира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резултати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три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независими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източника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валидация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bg-BG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Реално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Време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латенцията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  <a:endParaRPr kumimoji="0" lang="bg-BG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perf stat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хардуерни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cache-misses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от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процесора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bg-BG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Cachegrind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прецизен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брой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пропуски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в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кеша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който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служи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директно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сравнение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със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симулатора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169" y="1498193"/>
            <a:ext cx="4039863" cy="517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03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84212" y="21749"/>
            <a:ext cx="8534400" cy="1507067"/>
          </a:xfrm>
        </p:spPr>
        <p:txBody>
          <a:bodyPr/>
          <a:lstStyle/>
          <a:p>
            <a:r>
              <a:rPr lang="ru-RU" dirty="0" err="1"/>
              <a:t>Инструменти</a:t>
            </a:r>
            <a:r>
              <a:rPr lang="ru-RU" dirty="0"/>
              <a:t> за Анализ и Визуализация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57464" y="1957715"/>
            <a:ext cx="4347410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Инсталация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Зависимости</a:t>
            </a:r>
            <a:endParaRPr kumimoji="0" lang="bg-BG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Цел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Осигуряване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необходимите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инструменти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обработка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суровите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sim_results.csv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и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генериране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графики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Команда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sudo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apt install -y python3-pandas python3-matplotlib</a:t>
            </a: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Библиотеки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pandas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Използва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четене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обработка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табличните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CSV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файла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както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изчисляване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метрики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като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Cache Miss Rate.</a:t>
            </a:r>
            <a:endParaRPr kumimoji="0" lang="bg-BG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matplotlib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Използва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генериране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финалната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графика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sim_miss_rate.png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която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визуализира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зависимостта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между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Stride и Miss Rate.</a:t>
            </a: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07"/>
          <a:stretch/>
        </p:blipFill>
        <p:spPr>
          <a:xfrm>
            <a:off x="5234886" y="1691707"/>
            <a:ext cx="6138968" cy="382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006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84212" y="21749"/>
            <a:ext cx="8534400" cy="1507067"/>
          </a:xfrm>
        </p:spPr>
        <p:txBody>
          <a:bodyPr/>
          <a:lstStyle/>
          <a:p>
            <a:r>
              <a:rPr lang="bg-BG" dirty="0"/>
              <a:t>Изпълнение на </a:t>
            </a:r>
            <a:r>
              <a:rPr lang="en-GB" dirty="0"/>
              <a:t>Micro-benchmark </a:t>
            </a:r>
            <a:r>
              <a:rPr lang="bg-BG" dirty="0"/>
              <a:t>Тестовете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23996" y="1621217"/>
            <a:ext cx="5529963" cy="42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Действие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Провеждане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Реални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Измервания</a:t>
            </a: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Заглавие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run_bench.sh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Изпълнение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на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Micro-benchmark</a:t>
            </a: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Команда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./run_bench.sh</a:t>
            </a: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Процес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Скриптът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автоматично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стартира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C++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бенчмарка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./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stride_scan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24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уникални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комбинации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параметри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Elements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Размер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масива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4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различни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размера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(32768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4194304).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Stride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Стъпка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6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различни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стойности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(1, 4, 16, 64, 256, 1024).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Логване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Всяко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съобщение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&gt;&gt;&gt; RUNNING: Elements=... Stride=...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показва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че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скриптът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започва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нов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експеримент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като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изпълнява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бенчмарка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три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пъти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Mean Time, 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perf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и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Cachegrind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и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записва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резултатите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в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лог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файлове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Резултат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Значение</a:t>
            </a: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Доказателство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Снимката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е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визуално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доказателство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успешното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автоматизирано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събиране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реалния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хардуер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Връзка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Тези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тестове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генерират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реалното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време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изпълнение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mean_time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и 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 Rate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Cachegrind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които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ще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бъдат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използвани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във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финалния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етап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валидиране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</a:t>
            </a:r>
            <a:r>
              <a:rPr kumimoji="0" lang="en-US" altLang="en-US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симулатора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sim.py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597" y="1013627"/>
            <a:ext cx="3852147" cy="479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23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84212" y="21749"/>
            <a:ext cx="8534400" cy="1507067"/>
          </a:xfrm>
        </p:spPr>
        <p:txBody>
          <a:bodyPr/>
          <a:lstStyle/>
          <a:p>
            <a:r>
              <a:rPr lang="ru-RU" dirty="0" err="1"/>
              <a:t>Финализиране</a:t>
            </a:r>
            <a:r>
              <a:rPr lang="ru-RU" dirty="0"/>
              <a:t> на </a:t>
            </a:r>
            <a:r>
              <a:rPr lang="ru-RU" dirty="0" err="1"/>
              <a:t>Симулацията</a:t>
            </a:r>
            <a:r>
              <a:rPr lang="ru-RU" dirty="0"/>
              <a:t> (</a:t>
            </a:r>
            <a:r>
              <a:rPr lang="ru-RU" dirty="0" err="1"/>
              <a:t>Batch</a:t>
            </a:r>
            <a:r>
              <a:rPr lang="ru-RU" dirty="0"/>
              <a:t> </a:t>
            </a:r>
            <a:r>
              <a:rPr lang="ru-RU" dirty="0" err="1"/>
              <a:t>Execution</a:t>
            </a:r>
            <a:r>
              <a:rPr lang="ru-RU" dirty="0"/>
              <a:t>)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81263" y="1602400"/>
            <a:ext cx="1035316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Действие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Скрипта</a:t>
            </a: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Успешно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Завършване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Симулационния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Цикъл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Команда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Този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лог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е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част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изпълнението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 Execution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скрипта</a:t>
            </a:r>
            <a:r>
              <a:rPr lang="bg-BG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Процес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Скриптът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преминава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през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всички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файлове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трасиране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trace_e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*_s*.trace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и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извежда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Обработен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: Elements=... Stride=...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Потвърждава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че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симулаторът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sim.py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е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бил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успешно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извикан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и е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генерирал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статистика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конкретната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комбинация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Финално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Съобщение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Завършва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със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съобщението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Готово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!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Резултатите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са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записани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Значение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Презентацията</a:t>
            </a: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Тази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снимка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е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доказателство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изпълнението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експерименталната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верига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Данни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Успешното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завършване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означава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файлът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results/raw/sim_results.csv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вече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е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напълно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попълнен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всички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24 (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или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повече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експериментални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сценария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Следваща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Стъпка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Тези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необходимият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вход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следващата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стъпка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визуализацията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python3 tools/plot_sim.py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която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генерира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графиката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за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Cache Miss Rate.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545" y="4464722"/>
            <a:ext cx="8035986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165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219544" y="54594"/>
            <a:ext cx="8534400" cy="1507067"/>
          </a:xfrm>
        </p:spPr>
        <p:txBody>
          <a:bodyPr>
            <a:normAutofit/>
          </a:bodyPr>
          <a:lstStyle/>
          <a:p>
            <a:r>
              <a:rPr lang="ru-RU" sz="2800" dirty="0" err="1"/>
              <a:t>езултати</a:t>
            </a:r>
            <a:r>
              <a:rPr lang="ru-RU" sz="2800" dirty="0"/>
              <a:t> от </a:t>
            </a:r>
            <a:r>
              <a:rPr lang="ru-RU" sz="2800" dirty="0" err="1"/>
              <a:t>Симулацията</a:t>
            </a:r>
            <a:r>
              <a:rPr lang="ru-RU" sz="2800" dirty="0"/>
              <a:t> (</a:t>
            </a:r>
            <a:r>
              <a:rPr lang="ru-RU" sz="2800" dirty="0" err="1"/>
              <a:t>Cache</a:t>
            </a:r>
            <a:r>
              <a:rPr lang="ru-RU" sz="2800" dirty="0"/>
              <a:t> </a:t>
            </a:r>
            <a:r>
              <a:rPr lang="ru-RU" sz="2800" dirty="0" err="1"/>
              <a:t>Miss</a:t>
            </a:r>
            <a:r>
              <a:rPr lang="ru-RU" sz="2800" dirty="0"/>
              <a:t> </a:t>
            </a:r>
            <a:r>
              <a:rPr lang="ru-RU" sz="2800" dirty="0" err="1"/>
              <a:t>Rate</a:t>
            </a:r>
            <a:r>
              <a:rPr lang="ru-RU" sz="2800" dirty="0"/>
              <a:t>)</a:t>
            </a:r>
            <a:endParaRPr lang="en-GB" sz="2800" dirty="0"/>
          </a:p>
        </p:txBody>
      </p:sp>
      <p:graphicFrame>
        <p:nvGraphicFramePr>
          <p:cNvPr id="4" name="Контейнер за съдържани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85347"/>
              </p:ext>
            </p:extLst>
          </p:nvPr>
        </p:nvGraphicFramePr>
        <p:xfrm>
          <a:off x="1955884" y="1437942"/>
          <a:ext cx="8534400" cy="22860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 dirty="0">
                          <a:effectLst/>
                        </a:rPr>
                        <a:t>Stride (</a:t>
                      </a:r>
                      <a:r>
                        <a:rPr lang="bg-BG" dirty="0">
                          <a:effectLst/>
                        </a:rPr>
                        <a:t>Стъпка)</a:t>
                      </a:r>
                      <a:endParaRPr lang="bg-B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Cache Hits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Cache Misses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Total Accesses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dirty="0">
                          <a:effectLst/>
                        </a:rPr>
                        <a:t>Miss Rate (%)</a:t>
                      </a:r>
                      <a:endParaRPr lang="en-GB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1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dirty="0">
                          <a:effectLst/>
                        </a:rPr>
                        <a:t>917,504</a:t>
                      </a:r>
                      <a:endParaRPr lang="en-GB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dirty="0">
                          <a:effectLst/>
                        </a:rPr>
                        <a:t>131,072</a:t>
                      </a:r>
                      <a:endParaRPr lang="en-GB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dirty="0">
                          <a:effectLst/>
                        </a:rPr>
                        <a:t>1,048,576</a:t>
                      </a:r>
                      <a:endParaRPr lang="en-GB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12.5%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4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131,072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131,072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262,144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50.0%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16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0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65,536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65,536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100.0%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 dirty="0">
                          <a:effectLst/>
                        </a:rPr>
                        <a:t>64</a:t>
                      </a:r>
                      <a:endParaRPr lang="en-GB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0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16,384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16,384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100.0%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1024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0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1,024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effectLst/>
                        </a:rPr>
                        <a:t>1,024</a:t>
                      </a:r>
                      <a:endParaRPr lang="en-GB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dirty="0">
                          <a:effectLst/>
                        </a:rPr>
                        <a:t>100.0%</a:t>
                      </a:r>
                      <a:endParaRPr lang="en-GB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marT="30480" marB="30480" anchor="ctr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1997" y="4351404"/>
            <a:ext cx="13026368" cy="152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Тези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резултати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ясно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демонстрират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ефекта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пространствената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локалност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(Spatial Locality):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Stride 1 (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Отлично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Miss Rate е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само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12.5%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Това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дължи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факта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че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последователен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достъп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всеки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Miss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зарежда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цяла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кеш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линия</a:t>
            </a:r>
            <a:endParaRPr kumimoji="0" lang="bg-BG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(64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байта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която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съдържа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следващите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15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елемента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е 4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байта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$64/4=16$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елемента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Stride 16 и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по-голям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Провал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Miss Rate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скача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до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100.0%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Причината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е,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че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Стъпката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(16 $\times$ 4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байта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= 64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байта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е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равна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размера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кеш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линията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(64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байта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Следващият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достъп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попада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точно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в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началото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нова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незаредена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кеш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линия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Кеш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линията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заредена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предишния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Miss,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никога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не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се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използва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повторно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което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води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до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максимален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брой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пропуски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885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52681" y="435594"/>
            <a:ext cx="8534400" cy="1507067"/>
          </a:xfrm>
        </p:spPr>
        <p:txBody>
          <a:bodyPr/>
          <a:lstStyle/>
          <a:p>
            <a:r>
              <a:rPr lang="bg-BG" dirty="0"/>
              <a:t>Ключови Изводи и Валидация</a:t>
            </a:r>
            <a:endParaRPr lang="en-GB" dirty="0"/>
          </a:p>
        </p:txBody>
      </p:sp>
      <p:graphicFrame>
        <p:nvGraphicFramePr>
          <p:cNvPr id="4" name="Контейнер за съдържани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4130042"/>
              </p:ext>
            </p:extLst>
          </p:nvPr>
        </p:nvGraphicFramePr>
        <p:xfrm>
          <a:off x="1243889" y="2071259"/>
          <a:ext cx="5956299" cy="393446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985433"/>
                <a:gridCol w="1985433"/>
                <a:gridCol w="1985433"/>
              </a:tblGrid>
              <a:tr h="233998">
                <a:tc>
                  <a:txBody>
                    <a:bodyPr/>
                    <a:lstStyle/>
                    <a:p>
                      <a:pPr rtl="0"/>
                      <a:r>
                        <a:rPr lang="bg-BG" sz="1300">
                          <a:effectLst/>
                        </a:rPr>
                        <a:t>Елемент</a:t>
                      </a:r>
                      <a:endParaRPr lang="bg-BG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1909" marR="31909" marT="21273" marB="212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bg-BG" sz="1300">
                          <a:effectLst/>
                        </a:rPr>
                        <a:t>Извод</a:t>
                      </a:r>
                      <a:endParaRPr lang="bg-BG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1909" marR="31909" marT="21273" marB="212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bg-BG" sz="1300">
                          <a:effectLst/>
                        </a:rPr>
                        <a:t>Доказателство</a:t>
                      </a:r>
                      <a:endParaRPr lang="bg-BG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1909" marR="31909" marT="21273" marB="21273" anchor="ctr"/>
                </a:tc>
              </a:tr>
              <a:tr h="1191260">
                <a:tc>
                  <a:txBody>
                    <a:bodyPr/>
                    <a:lstStyle/>
                    <a:p>
                      <a:pPr rtl="0"/>
                      <a:r>
                        <a:rPr lang="bg-BG" sz="1300">
                          <a:effectLst/>
                        </a:rPr>
                        <a:t>1. Валидация на Модела</a:t>
                      </a:r>
                      <a:endParaRPr lang="bg-BG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1909" marR="31909" marT="21273" marB="212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300">
                          <a:effectLst/>
                        </a:rPr>
                        <a:t>Симулаторът е точен: Miss Rate, изчислен от Python модела, има отлично съответствие с Miss Rate, измерен от Cachegrind.</a:t>
                      </a:r>
                      <a:endParaRPr lang="ru-RU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1909" marR="31909" marT="21273" marB="212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1300">
                          <a:effectLst/>
                        </a:rPr>
                        <a:t>Miss Rate (Sim vs. Cachegrind): 100% </a:t>
                      </a:r>
                      <a:r>
                        <a:rPr lang="bg-BG" sz="1300">
                          <a:effectLst/>
                        </a:rPr>
                        <a:t>при </a:t>
                      </a:r>
                      <a:r>
                        <a:rPr lang="en-GB" sz="1300">
                          <a:effectLst/>
                        </a:rPr>
                        <a:t>Stride 16.</a:t>
                      </a:r>
                      <a:endParaRPr lang="en-GB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1909" marR="31909" marT="21273" marB="21273" anchor="ctr"/>
                </a:tc>
              </a:tr>
              <a:tr h="999808">
                <a:tc>
                  <a:txBody>
                    <a:bodyPr/>
                    <a:lstStyle/>
                    <a:p>
                      <a:pPr rtl="0"/>
                      <a:r>
                        <a:rPr lang="bg-BG" sz="1300">
                          <a:effectLst/>
                        </a:rPr>
                        <a:t>2. Архитектурен Параметър</a:t>
                      </a:r>
                      <a:endParaRPr lang="bg-BG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1909" marR="31909" marT="21273" marB="212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300">
                          <a:effectLst/>
                        </a:rPr>
                        <a:t>Размерът на кеш линията е 64 байта. Експериментът Stride Scan директно го разкрива.</a:t>
                      </a:r>
                      <a:endParaRPr lang="ru-RU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1909" marR="31909" marT="21273" marB="212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300" dirty="0" smtClean="0">
                          <a:effectLst/>
                        </a:rPr>
                        <a:t>Точка на </a:t>
                      </a:r>
                      <a:r>
                        <a:rPr lang="ru-RU" sz="1300" dirty="0" err="1" smtClean="0">
                          <a:effectLst/>
                        </a:rPr>
                        <a:t>Пречупване</a:t>
                      </a:r>
                      <a:r>
                        <a:rPr lang="ru-RU" sz="1300" dirty="0" smtClean="0">
                          <a:effectLst/>
                        </a:rPr>
                        <a:t>: При </a:t>
                      </a:r>
                      <a:r>
                        <a:rPr lang="ru-RU" sz="1300" dirty="0" err="1" smtClean="0">
                          <a:effectLst/>
                        </a:rPr>
                        <a:t>Stride</a:t>
                      </a:r>
                      <a:r>
                        <a:rPr lang="ru-RU" sz="1300" dirty="0" smtClean="0">
                          <a:effectLst/>
                        </a:rPr>
                        <a:t> 16(16 * 4 байта = 64байта), </a:t>
                      </a:r>
                      <a:r>
                        <a:rPr lang="ru-RU" sz="1300" dirty="0" err="1" smtClean="0">
                          <a:effectLst/>
                        </a:rPr>
                        <a:t>Miss</a:t>
                      </a:r>
                      <a:r>
                        <a:rPr lang="ru-RU" sz="1300" dirty="0" smtClean="0">
                          <a:effectLst/>
                        </a:rPr>
                        <a:t> </a:t>
                      </a:r>
                      <a:r>
                        <a:rPr lang="ru-RU" sz="1300" dirty="0" err="1" smtClean="0">
                          <a:effectLst/>
                        </a:rPr>
                        <a:t>Rate</a:t>
                      </a:r>
                      <a:r>
                        <a:rPr lang="ru-RU" sz="1300" dirty="0" smtClean="0">
                          <a:effectLst/>
                        </a:rPr>
                        <a:t> скача </a:t>
                      </a:r>
                      <a:r>
                        <a:rPr lang="ru-RU" sz="1300" dirty="0" err="1" smtClean="0">
                          <a:effectLst/>
                        </a:rPr>
                        <a:t>рязко</a:t>
                      </a:r>
                      <a:r>
                        <a:rPr lang="ru-RU" sz="1300" dirty="0" smtClean="0">
                          <a:effectLst/>
                        </a:rPr>
                        <a:t> до 100%.</a:t>
                      </a:r>
                      <a:endParaRPr lang="bg-BG" sz="13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1909" marR="31909" marT="21273" marB="21273" anchor="ctr"/>
                </a:tc>
              </a:tr>
              <a:tr h="1191260">
                <a:tc>
                  <a:txBody>
                    <a:bodyPr/>
                    <a:lstStyle/>
                    <a:p>
                      <a:pPr rtl="0"/>
                      <a:r>
                        <a:rPr lang="bg-BG" sz="1300">
                          <a:effectLst/>
                        </a:rPr>
                        <a:t>3. Връзката с Производителността</a:t>
                      </a:r>
                      <a:endParaRPr lang="bg-BG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1909" marR="31909" marT="21273" marB="212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300">
                          <a:effectLst/>
                        </a:rPr>
                        <a:t>Локалността е най-важна: Miss Rate пряко корелира с латентността на достъпа и реалното време за изпълнение (Mean Time).</a:t>
                      </a:r>
                      <a:endParaRPr lang="ru-RU" sz="13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1909" marR="31909" marT="21273" marB="2127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300" dirty="0" err="1">
                          <a:effectLst/>
                        </a:rPr>
                        <a:t>Увеличаване</a:t>
                      </a:r>
                      <a:r>
                        <a:rPr lang="ru-RU" sz="1300" dirty="0">
                          <a:effectLst/>
                        </a:rPr>
                        <a:t> на </a:t>
                      </a:r>
                      <a:r>
                        <a:rPr lang="ru-RU" sz="1300" dirty="0" err="1">
                          <a:effectLst/>
                        </a:rPr>
                        <a:t>Stride</a:t>
                      </a:r>
                      <a:r>
                        <a:rPr lang="ru-RU" sz="1300" dirty="0">
                          <a:effectLst/>
                        </a:rPr>
                        <a:t> води до </a:t>
                      </a:r>
                      <a:r>
                        <a:rPr lang="ru-RU" sz="1300" dirty="0" err="1">
                          <a:effectLst/>
                        </a:rPr>
                        <a:t>рязка</a:t>
                      </a:r>
                      <a:r>
                        <a:rPr lang="ru-RU" sz="1300" dirty="0">
                          <a:effectLst/>
                        </a:rPr>
                        <a:t> </a:t>
                      </a:r>
                      <a:r>
                        <a:rPr lang="ru-RU" sz="1300" dirty="0" err="1">
                          <a:effectLst/>
                        </a:rPr>
                        <a:t>загуба</a:t>
                      </a:r>
                      <a:r>
                        <a:rPr lang="ru-RU" sz="1300" dirty="0">
                          <a:effectLst/>
                        </a:rPr>
                        <a:t> на </a:t>
                      </a:r>
                      <a:r>
                        <a:rPr lang="ru-RU" sz="1300" dirty="0" err="1">
                          <a:effectLst/>
                        </a:rPr>
                        <a:t>скорост</a:t>
                      </a:r>
                      <a:r>
                        <a:rPr lang="ru-RU" sz="1300" dirty="0">
                          <a:effectLst/>
                        </a:rPr>
                        <a:t> </a:t>
                      </a:r>
                      <a:r>
                        <a:rPr lang="ru-RU" sz="1300" dirty="0" err="1">
                          <a:effectLst/>
                        </a:rPr>
                        <a:t>поради</a:t>
                      </a:r>
                      <a:r>
                        <a:rPr lang="ru-RU" sz="1300" dirty="0">
                          <a:effectLst/>
                        </a:rPr>
                        <a:t> </a:t>
                      </a:r>
                      <a:r>
                        <a:rPr lang="ru-RU" sz="1300" dirty="0" err="1">
                          <a:effectLst/>
                        </a:rPr>
                        <a:t>необходимостта</a:t>
                      </a:r>
                      <a:r>
                        <a:rPr lang="ru-RU" sz="1300" dirty="0">
                          <a:effectLst/>
                        </a:rPr>
                        <a:t> от </a:t>
                      </a:r>
                      <a:r>
                        <a:rPr lang="ru-RU" sz="1300" dirty="0" err="1">
                          <a:effectLst/>
                        </a:rPr>
                        <a:t>достъп</a:t>
                      </a:r>
                      <a:r>
                        <a:rPr lang="ru-RU" sz="1300" dirty="0">
                          <a:effectLst/>
                        </a:rPr>
                        <a:t> до </a:t>
                      </a:r>
                      <a:r>
                        <a:rPr lang="ru-RU" sz="1300" dirty="0" err="1">
                          <a:effectLst/>
                        </a:rPr>
                        <a:t>по-бавната</a:t>
                      </a:r>
                      <a:r>
                        <a:rPr lang="ru-RU" sz="1300" dirty="0">
                          <a:effectLst/>
                        </a:rPr>
                        <a:t> RAM.</a:t>
                      </a:r>
                      <a:endParaRPr lang="ru-RU" sz="13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1909" marR="31909" marT="21273" marB="21273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46348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52681" y="435594"/>
            <a:ext cx="8534400" cy="1507067"/>
          </a:xfrm>
        </p:spPr>
        <p:txBody>
          <a:bodyPr/>
          <a:lstStyle/>
          <a:p>
            <a:r>
              <a:rPr lang="bg-BG" dirty="0"/>
              <a:t>Заключение и Практическа Полза</a:t>
            </a:r>
            <a:endParaRPr lang="en-GB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680271" y="2293883"/>
            <a:ext cx="8534400" cy="36152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 err="1"/>
              <a:t>Основно</a:t>
            </a:r>
            <a:r>
              <a:rPr lang="ru-RU" b="1" dirty="0"/>
              <a:t> Послание</a:t>
            </a:r>
          </a:p>
          <a:p>
            <a:pPr marL="0" indent="0">
              <a:buNone/>
            </a:pPr>
            <a:r>
              <a:rPr lang="ru-RU" b="1" dirty="0" smtClean="0"/>
              <a:t>	</a:t>
            </a:r>
            <a:r>
              <a:rPr lang="ru-RU" b="1" dirty="0" err="1" smtClean="0"/>
              <a:t>Концепциите</a:t>
            </a:r>
            <a:r>
              <a:rPr lang="ru-RU" b="1" dirty="0" smtClean="0"/>
              <a:t> </a:t>
            </a:r>
            <a:r>
              <a:rPr lang="ru-RU" b="1" dirty="0"/>
              <a:t>за </a:t>
            </a:r>
            <a:r>
              <a:rPr lang="ru-RU" b="1" dirty="0" err="1"/>
              <a:t>пространствена</a:t>
            </a:r>
            <a:r>
              <a:rPr lang="ru-RU" b="1" dirty="0"/>
              <a:t> и </a:t>
            </a:r>
            <a:r>
              <a:rPr lang="ru-RU" b="1" dirty="0" err="1"/>
              <a:t>времева</a:t>
            </a:r>
            <a:r>
              <a:rPr lang="ru-RU" b="1" dirty="0"/>
              <a:t> </a:t>
            </a:r>
            <a:r>
              <a:rPr lang="ru-RU" b="1" dirty="0" err="1"/>
              <a:t>локалност</a:t>
            </a:r>
            <a:r>
              <a:rPr lang="ru-RU" b="1" dirty="0"/>
              <a:t> </a:t>
            </a:r>
            <a:r>
              <a:rPr lang="ru-RU" b="1" dirty="0" err="1"/>
              <a:t>имат</a:t>
            </a:r>
            <a:r>
              <a:rPr lang="ru-RU" b="1" dirty="0"/>
              <a:t> </a:t>
            </a:r>
            <a:r>
              <a:rPr lang="ru-RU" b="1" dirty="0" err="1"/>
              <a:t>реално</a:t>
            </a:r>
            <a:r>
              <a:rPr lang="ru-RU" b="1" dirty="0"/>
              <a:t> и измеримо </a:t>
            </a:r>
            <a:r>
              <a:rPr lang="ru-RU" b="1" dirty="0" err="1"/>
              <a:t>въздействие</a:t>
            </a:r>
            <a:r>
              <a:rPr lang="ru-RU" b="1" dirty="0"/>
              <a:t> </a:t>
            </a:r>
            <a:r>
              <a:rPr lang="ru-RU" b="1" dirty="0" err="1"/>
              <a:t>върху</a:t>
            </a:r>
            <a:r>
              <a:rPr lang="ru-RU" b="1" dirty="0"/>
              <a:t> </a:t>
            </a:r>
            <a:r>
              <a:rPr lang="ru-RU" b="1" dirty="0" err="1" smtClean="0"/>
              <a:t>производителността</a:t>
            </a:r>
            <a:r>
              <a:rPr lang="ru-RU" b="1" dirty="0" smtClean="0"/>
              <a:t>.</a:t>
            </a:r>
            <a:endParaRPr lang="ru-RU" dirty="0" smtClean="0"/>
          </a:p>
          <a:p>
            <a:pPr marL="0" indent="0">
              <a:buNone/>
            </a:pPr>
            <a:r>
              <a:rPr lang="ru-RU" b="1" dirty="0" smtClean="0"/>
              <a:t>Ограничения </a:t>
            </a:r>
            <a:r>
              <a:rPr lang="ru-RU" b="1" dirty="0"/>
              <a:t>на </a:t>
            </a:r>
            <a:r>
              <a:rPr lang="ru-RU" b="1" dirty="0" err="1"/>
              <a:t>Симулатора</a:t>
            </a:r>
            <a:endParaRPr lang="ru-RU" b="1" dirty="0"/>
          </a:p>
          <a:p>
            <a:pPr marL="0" indent="0">
              <a:buNone/>
            </a:pPr>
            <a:r>
              <a:rPr lang="ru-RU" dirty="0" err="1" smtClean="0"/>
              <a:t>Симулаторът</a:t>
            </a:r>
            <a:r>
              <a:rPr lang="ru-RU" dirty="0" smtClean="0"/>
              <a:t> </a:t>
            </a:r>
            <a:r>
              <a:rPr lang="ru-RU" dirty="0"/>
              <a:t>точно </a:t>
            </a:r>
            <a:r>
              <a:rPr lang="ru-RU" dirty="0" err="1"/>
              <a:t>моделира</a:t>
            </a:r>
            <a:r>
              <a:rPr lang="ru-RU" dirty="0"/>
              <a:t> </a:t>
            </a:r>
            <a:r>
              <a:rPr lang="ru-RU" b="1" dirty="0" err="1"/>
              <a:t>Miss</a:t>
            </a:r>
            <a:r>
              <a:rPr lang="ru-RU" b="1" dirty="0"/>
              <a:t>/</a:t>
            </a:r>
            <a:r>
              <a:rPr lang="ru-RU" b="1" dirty="0" err="1"/>
              <a:t>Hit</a:t>
            </a:r>
            <a:r>
              <a:rPr lang="ru-RU" b="1" dirty="0"/>
              <a:t> </a:t>
            </a:r>
            <a:r>
              <a:rPr lang="ru-RU" b="1" dirty="0" err="1"/>
              <a:t>статистиките</a:t>
            </a:r>
            <a:r>
              <a:rPr lang="ru-RU" dirty="0"/>
              <a:t>, но е </a:t>
            </a:r>
            <a:r>
              <a:rPr lang="ru-RU" b="1" dirty="0" err="1"/>
              <a:t>опростен</a:t>
            </a:r>
            <a:r>
              <a:rPr lang="ru-RU" dirty="0"/>
              <a:t> и не </a:t>
            </a:r>
            <a:r>
              <a:rPr lang="ru-RU" dirty="0" err="1"/>
              <a:t>може</a:t>
            </a:r>
            <a:r>
              <a:rPr lang="ru-RU" dirty="0"/>
              <a:t> да </a:t>
            </a:r>
            <a:r>
              <a:rPr lang="ru-RU" dirty="0" err="1"/>
              <a:t>предскаже</a:t>
            </a:r>
            <a:r>
              <a:rPr lang="ru-RU" dirty="0"/>
              <a:t> </a:t>
            </a:r>
            <a:r>
              <a:rPr lang="ru-RU" dirty="0" err="1"/>
              <a:t>абсолютната</a:t>
            </a:r>
            <a:r>
              <a:rPr lang="ru-RU" dirty="0"/>
              <a:t> </a:t>
            </a:r>
            <a:r>
              <a:rPr lang="ru-RU" dirty="0" err="1"/>
              <a:t>латентност</a:t>
            </a:r>
            <a:r>
              <a:rPr lang="ru-RU" dirty="0"/>
              <a:t> на </a:t>
            </a:r>
            <a:r>
              <a:rPr lang="ru-RU" dirty="0" err="1"/>
              <a:t>ниво</a:t>
            </a:r>
            <a:r>
              <a:rPr lang="ru-RU" dirty="0"/>
              <a:t> </a:t>
            </a:r>
            <a:r>
              <a:rPr lang="ru-RU" dirty="0" err="1"/>
              <a:t>милисекунди</a:t>
            </a:r>
            <a:r>
              <a:rPr lang="ru-RU" dirty="0"/>
              <a:t> (</a:t>
            </a:r>
            <a:r>
              <a:rPr lang="ru-RU" dirty="0" err="1"/>
              <a:t>поради</a:t>
            </a:r>
            <a:r>
              <a:rPr lang="ru-RU" dirty="0"/>
              <a:t> </a:t>
            </a:r>
            <a:r>
              <a:rPr lang="ru-RU" dirty="0" err="1"/>
              <a:t>липса</a:t>
            </a:r>
            <a:r>
              <a:rPr lang="ru-RU" dirty="0"/>
              <a:t> на многостепенен </a:t>
            </a:r>
            <a:r>
              <a:rPr lang="ru-RU" dirty="0" err="1"/>
              <a:t>кеш</a:t>
            </a:r>
            <a:r>
              <a:rPr lang="ru-RU" dirty="0"/>
              <a:t>, </a:t>
            </a:r>
            <a:r>
              <a:rPr lang="ru-RU" dirty="0" err="1"/>
              <a:t>prefetchers</a:t>
            </a:r>
            <a:r>
              <a:rPr lang="ru-RU" dirty="0"/>
              <a:t> и OS </a:t>
            </a:r>
            <a:r>
              <a:rPr lang="ru-RU" dirty="0" err="1"/>
              <a:t>jitter</a:t>
            </a:r>
            <a:r>
              <a:rPr lang="ru-RU" dirty="0" smtClean="0"/>
              <a:t>).</a:t>
            </a:r>
          </a:p>
          <a:p>
            <a:pPr marL="0" indent="0">
              <a:buNone/>
            </a:pPr>
            <a:r>
              <a:rPr lang="ru-RU" b="1" dirty="0" smtClean="0"/>
              <a:t> Практически Приложения</a:t>
            </a:r>
          </a:p>
          <a:p>
            <a:pPr marL="0" indent="0">
              <a:buNone/>
            </a:pPr>
            <a:r>
              <a:rPr lang="ru-RU" dirty="0" err="1" smtClean="0"/>
              <a:t>Програмистите</a:t>
            </a:r>
            <a:r>
              <a:rPr lang="ru-RU" dirty="0" smtClean="0"/>
              <a:t> </a:t>
            </a:r>
            <a:r>
              <a:rPr lang="ru-RU" dirty="0" err="1"/>
              <a:t>трябва</a:t>
            </a:r>
            <a:r>
              <a:rPr lang="ru-RU" dirty="0"/>
              <a:t> </a:t>
            </a:r>
            <a:r>
              <a:rPr lang="ru-RU" b="1" dirty="0" err="1"/>
              <a:t>винаги</a:t>
            </a:r>
            <a:r>
              <a:rPr lang="ru-RU" b="1" dirty="0"/>
              <a:t> да </a:t>
            </a:r>
            <a:r>
              <a:rPr lang="ru-RU" b="1" dirty="0" err="1"/>
              <a:t>оптимизират</a:t>
            </a:r>
            <a:r>
              <a:rPr lang="ru-RU" dirty="0"/>
              <a:t> за </a:t>
            </a:r>
            <a:r>
              <a:rPr lang="ru-RU" b="1" dirty="0" err="1"/>
              <a:t>пространствена</a:t>
            </a:r>
            <a:r>
              <a:rPr lang="ru-RU" b="1" dirty="0"/>
              <a:t> </a:t>
            </a:r>
            <a:r>
              <a:rPr lang="ru-RU" b="1" dirty="0" err="1"/>
              <a:t>локалност</a:t>
            </a:r>
            <a:r>
              <a:rPr lang="ru-RU" dirty="0"/>
              <a:t> (последователен </a:t>
            </a:r>
            <a:r>
              <a:rPr lang="ru-RU" dirty="0" err="1"/>
              <a:t>достъп</a:t>
            </a:r>
            <a:r>
              <a:rPr lang="ru-RU" dirty="0"/>
              <a:t> до </a:t>
            </a:r>
            <a:r>
              <a:rPr lang="ru-RU" dirty="0" err="1"/>
              <a:t>паметта</a:t>
            </a:r>
            <a:r>
              <a:rPr lang="ru-RU" dirty="0"/>
              <a:t>), за да </a:t>
            </a:r>
            <a:r>
              <a:rPr lang="ru-RU" dirty="0" err="1"/>
              <a:t>избегнат</a:t>
            </a:r>
            <a:r>
              <a:rPr lang="ru-RU" dirty="0"/>
              <a:t> </a:t>
            </a:r>
            <a:r>
              <a:rPr lang="ru-RU" dirty="0" err="1"/>
              <a:t>скъпите</a:t>
            </a:r>
            <a:r>
              <a:rPr lang="ru-RU" dirty="0"/>
              <a:t> пропуски в </a:t>
            </a:r>
            <a:r>
              <a:rPr lang="ru-RU" dirty="0" err="1"/>
              <a:t>кеша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 err="1"/>
              <a:t>Дори</a:t>
            </a:r>
            <a:r>
              <a:rPr lang="ru-RU" dirty="0"/>
              <a:t> </a:t>
            </a:r>
            <a:r>
              <a:rPr lang="ru-RU" dirty="0" err="1"/>
              <a:t>семпълни</a:t>
            </a:r>
            <a:r>
              <a:rPr lang="ru-RU" dirty="0"/>
              <a:t> </a:t>
            </a:r>
            <a:r>
              <a:rPr lang="ru-RU" dirty="0" err="1"/>
              <a:t>симулации</a:t>
            </a:r>
            <a:r>
              <a:rPr lang="ru-RU" dirty="0"/>
              <a:t> и микро-</a:t>
            </a:r>
            <a:r>
              <a:rPr lang="ru-RU" dirty="0" err="1"/>
              <a:t>бенчмаркове</a:t>
            </a:r>
            <a:r>
              <a:rPr lang="ru-RU" dirty="0"/>
              <a:t> </a:t>
            </a:r>
            <a:r>
              <a:rPr lang="ru-RU" dirty="0" err="1"/>
              <a:t>могат</a:t>
            </a:r>
            <a:r>
              <a:rPr lang="ru-RU" dirty="0"/>
              <a:t> да </a:t>
            </a:r>
            <a:r>
              <a:rPr lang="ru-RU" b="1" dirty="0" err="1"/>
              <a:t>разкрият</a:t>
            </a:r>
            <a:r>
              <a:rPr lang="ru-RU" dirty="0"/>
              <a:t> </a:t>
            </a:r>
            <a:r>
              <a:rPr lang="ru-RU" dirty="0" err="1"/>
              <a:t>ключови</a:t>
            </a:r>
            <a:r>
              <a:rPr lang="ru-RU" dirty="0"/>
              <a:t> </a:t>
            </a:r>
            <a:r>
              <a:rPr lang="ru-RU" dirty="0" err="1"/>
              <a:t>архитектурни</a:t>
            </a:r>
            <a:r>
              <a:rPr lang="ru-RU" dirty="0"/>
              <a:t> </a:t>
            </a:r>
            <a:r>
              <a:rPr lang="ru-RU" dirty="0" err="1"/>
              <a:t>детайли</a:t>
            </a:r>
            <a:r>
              <a:rPr lang="ru-RU" dirty="0"/>
              <a:t> на </a:t>
            </a:r>
            <a:r>
              <a:rPr lang="ru-RU" dirty="0" err="1"/>
              <a:t>хардуера</a:t>
            </a:r>
            <a:r>
              <a:rPr lang="ru-RU" dirty="0"/>
              <a:t> (напр.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Line</a:t>
            </a:r>
            <a:r>
              <a:rPr lang="ru-RU" dirty="0"/>
              <a:t> </a:t>
            </a:r>
            <a:r>
              <a:rPr lang="ru-RU" dirty="0" err="1"/>
              <a:t>Size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05323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11802" y="1953025"/>
            <a:ext cx="8534400" cy="1507067"/>
          </a:xfrm>
        </p:spPr>
        <p:txBody>
          <a:bodyPr/>
          <a:lstStyle/>
          <a:p>
            <a:r>
              <a:rPr lang="bg-BG" dirty="0" smtClean="0"/>
              <a:t>Благодаря</a:t>
            </a:r>
            <a:endParaRPr lang="en-GB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652681" y="2100755"/>
            <a:ext cx="8534400" cy="3615267"/>
          </a:xfrm>
        </p:spPr>
        <p:txBody>
          <a:bodyPr/>
          <a:lstStyle/>
          <a:p>
            <a:r>
              <a:rPr lang="bg-BG" dirty="0" smtClean="0"/>
              <a:t>Изготвил: Стефан Петков </a:t>
            </a:r>
            <a:r>
              <a:rPr lang="bg-BG" dirty="0" err="1" smtClean="0"/>
              <a:t>Петков</a:t>
            </a:r>
            <a:r>
              <a:rPr lang="bg-BG" dirty="0" smtClean="0"/>
              <a:t> – 121223068</a:t>
            </a:r>
          </a:p>
          <a:p>
            <a:r>
              <a:rPr lang="bg-BG" dirty="0" smtClean="0"/>
              <a:t>Група 43б КСИ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5375439"/>
      </p:ext>
    </p:extLst>
  </p:cSld>
  <p:clrMapOvr>
    <a:masterClrMapping/>
  </p:clrMapOvr>
</p:sld>
</file>

<file path=ppt/theme/theme1.xml><?xml version="1.0" encoding="utf-8"?>
<a:theme xmlns:a="http://schemas.openxmlformats.org/drawingml/2006/main" name="Сегмент">
  <a:themeElements>
    <a:clrScheme name="Сегмент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гмент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гмент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229</TotalTime>
  <Words>3012</Words>
  <Application>Microsoft Office PowerPoint</Application>
  <PresentationFormat>Широк екран</PresentationFormat>
  <Paragraphs>368</Paragraphs>
  <Slides>32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32</vt:i4>
      </vt:variant>
    </vt:vector>
  </HeadingPairs>
  <TitlesOfParts>
    <vt:vector size="38" baseType="lpstr">
      <vt:lpstr>Arial Unicode MS</vt:lpstr>
      <vt:lpstr>Arial</vt:lpstr>
      <vt:lpstr>Century Gothic</vt:lpstr>
      <vt:lpstr>Google Sans Text</vt:lpstr>
      <vt:lpstr>Wingdings 3</vt:lpstr>
      <vt:lpstr>Сегмент</vt:lpstr>
      <vt:lpstr>Заглавие: Кеш и виртуална памет. Защита и йерархия. - Практическа симулация и анализ на производителността </vt:lpstr>
      <vt:lpstr>Съдържание </vt:lpstr>
      <vt:lpstr>Увод</vt:lpstr>
      <vt:lpstr>Теория за въведение</vt:lpstr>
      <vt:lpstr>Презентация на PowerPoint</vt:lpstr>
      <vt:lpstr>Инструменти</vt:lpstr>
      <vt:lpstr>Презентация на PowerPoint</vt:lpstr>
      <vt:lpstr>Обобщено - Инструкции за компилиране и пускане</vt:lpstr>
      <vt:lpstr>Проверка</vt:lpstr>
      <vt:lpstr>Архитектура и Реализация на Симулатор за Памет (TLB, Page Table, Cache)</vt:lpstr>
      <vt:lpstr>Конфигурационни параметри</vt:lpstr>
      <vt:lpstr>TLB (LRU) – реализация</vt:lpstr>
      <vt:lpstr>Презентация на PowerPoint</vt:lpstr>
      <vt:lpstr>Симулатор на Йерархия на Паметта</vt:lpstr>
      <vt:lpstr>Етап на Изпълнение: Автоматизирано Трасиране на Паметта</vt:lpstr>
      <vt:lpstr>Презентация на PowerPoint</vt:lpstr>
      <vt:lpstr>Презентация на PowerPoint</vt:lpstr>
      <vt:lpstr>Графика</vt:lpstr>
      <vt:lpstr>Резултати от Симулацията: Влияние на Стъпката (Stride) върху Кеша</vt:lpstr>
      <vt:lpstr>Анализ на Таблицата: Влияние на Стъпкат</vt:lpstr>
      <vt:lpstr>Micro-benchmark: Методология и Инструменти</vt:lpstr>
      <vt:lpstr>Презентация на PowerPoint</vt:lpstr>
      <vt:lpstr>Автоматизация на Реалните Тестове - run_bench.sh: Събиране на Реални Данни</vt:lpstr>
      <vt:lpstr>Презентация на PowerPoint</vt:lpstr>
      <vt:lpstr>Makefile &amp; run_bench.sh: Автоматизация на Анализа</vt:lpstr>
      <vt:lpstr>Инструменти за Анализ и Визуализация</vt:lpstr>
      <vt:lpstr>Изпълнение на Micro-benchmark Тестовете</vt:lpstr>
      <vt:lpstr>Финализиране на Симулацията (Batch Execution)</vt:lpstr>
      <vt:lpstr>езултати от Симулацията (Cache Miss Rate)</vt:lpstr>
      <vt:lpstr>Ключови Изводи и Валидация</vt:lpstr>
      <vt:lpstr>Заключение и Практическа Полза</vt:lpstr>
      <vt:lpstr>Благодаря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Стефан Петков</dc:creator>
  <cp:lastModifiedBy>Стефан Петков</cp:lastModifiedBy>
  <cp:revision>23</cp:revision>
  <dcterms:created xsi:type="dcterms:W3CDTF">2025-11-20T16:49:05Z</dcterms:created>
  <dcterms:modified xsi:type="dcterms:W3CDTF">2026-01-26T14:02:07Z</dcterms:modified>
</cp:coreProperties>
</file>